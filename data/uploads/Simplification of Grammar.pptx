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71" r:id="rId2"/>
    <p:sldId id="263" r:id="rId3"/>
    <p:sldId id="264" r:id="rId4"/>
    <p:sldId id="272" r:id="rId5"/>
    <p:sldId id="273" r:id="rId6"/>
    <p:sldId id="265" r:id="rId7"/>
    <p:sldId id="266" r:id="rId8"/>
    <p:sldId id="267" r:id="rId9"/>
    <p:sldId id="268" r:id="rId10"/>
    <p:sldId id="269" r:id="rId11"/>
    <p:sldId id="270" r:id="rId12"/>
    <p:sldId id="282" r:id="rId13"/>
    <p:sldId id="278" r:id="rId14"/>
    <p:sldId id="280" r:id="rId15"/>
    <p:sldId id="281" r:id="rId16"/>
    <p:sldId id="296" r:id="rId17"/>
    <p:sldId id="297" r:id="rId18"/>
    <p:sldId id="283" r:id="rId19"/>
    <p:sldId id="284" r:id="rId20"/>
    <p:sldId id="285" r:id="rId21"/>
    <p:sldId id="274" r:id="rId22"/>
    <p:sldId id="275" r:id="rId23"/>
    <p:sldId id="276" r:id="rId24"/>
    <p:sldId id="277" r:id="rId25"/>
    <p:sldId id="279" r:id="rId26"/>
    <p:sldId id="286" r:id="rId27"/>
    <p:sldId id="287" r:id="rId28"/>
    <p:sldId id="288" r:id="rId29"/>
    <p:sldId id="289" r:id="rId30"/>
    <p:sldId id="291" r:id="rId31"/>
    <p:sldId id="292" r:id="rId32"/>
    <p:sldId id="290" r:id="rId33"/>
    <p:sldId id="293" r:id="rId34"/>
    <p:sldId id="294" r:id="rId35"/>
    <p:sldId id="295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5AABE0-B9FD-464F-ADC2-1F53E92AF6FC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7C86A9E-F56B-48C4-A9B3-9DFE410200F0}">
      <dgm:prSet/>
      <dgm:spPr/>
      <dgm:t>
        <a:bodyPr/>
        <a:lstStyle/>
        <a:p>
          <a:r>
            <a:rPr lang="en-US" b="0" i="0"/>
            <a:t>Removal of Ambiguity</a:t>
          </a:r>
          <a:endParaRPr lang="en-US"/>
        </a:p>
      </dgm:t>
    </dgm:pt>
    <dgm:pt modelId="{39649A59-7575-4606-9284-3805FE54BB56}" type="parTrans" cxnId="{4583B8D2-0F93-4FBA-8AE5-49043975000C}">
      <dgm:prSet/>
      <dgm:spPr/>
      <dgm:t>
        <a:bodyPr/>
        <a:lstStyle/>
        <a:p>
          <a:endParaRPr lang="en-US"/>
        </a:p>
      </dgm:t>
    </dgm:pt>
    <dgm:pt modelId="{C6485470-99A1-49E3-ABB6-968007C9B1E0}" type="sibTrans" cxnId="{4583B8D2-0F93-4FBA-8AE5-49043975000C}">
      <dgm:prSet/>
      <dgm:spPr/>
      <dgm:t>
        <a:bodyPr/>
        <a:lstStyle/>
        <a:p>
          <a:endParaRPr lang="en-US"/>
        </a:p>
      </dgm:t>
    </dgm:pt>
    <dgm:pt modelId="{9A324B99-50FF-4C12-B03F-232F6627D6C2}">
      <dgm:prSet/>
      <dgm:spPr/>
      <dgm:t>
        <a:bodyPr/>
        <a:lstStyle/>
        <a:p>
          <a:r>
            <a:rPr lang="en-US"/>
            <a:t>Removal of Left Recursion</a:t>
          </a:r>
        </a:p>
      </dgm:t>
    </dgm:pt>
    <dgm:pt modelId="{C89BDAC8-97D3-4BB7-806B-5D8DC58F58B6}" type="parTrans" cxnId="{1846725F-20F0-4C2A-8996-EC3C73A889F0}">
      <dgm:prSet/>
      <dgm:spPr/>
      <dgm:t>
        <a:bodyPr/>
        <a:lstStyle/>
        <a:p>
          <a:endParaRPr lang="en-US"/>
        </a:p>
      </dgm:t>
    </dgm:pt>
    <dgm:pt modelId="{5333D78F-7040-4943-9207-0EDE0988AE24}" type="sibTrans" cxnId="{1846725F-20F0-4C2A-8996-EC3C73A889F0}">
      <dgm:prSet/>
      <dgm:spPr/>
      <dgm:t>
        <a:bodyPr/>
        <a:lstStyle/>
        <a:p>
          <a:endParaRPr lang="en-US"/>
        </a:p>
      </dgm:t>
    </dgm:pt>
    <dgm:pt modelId="{29EA1974-04DA-4CCF-A233-F8583FB40C65}">
      <dgm:prSet/>
      <dgm:spPr/>
      <dgm:t>
        <a:bodyPr/>
        <a:lstStyle/>
        <a:p>
          <a:r>
            <a:rPr lang="en-US" b="0" i="0"/>
            <a:t>Left Factorization of Grammar</a:t>
          </a:r>
          <a:endParaRPr lang="en-US"/>
        </a:p>
      </dgm:t>
    </dgm:pt>
    <dgm:pt modelId="{99CC3833-E466-40C3-82DB-63A581BE668D}" type="parTrans" cxnId="{9F4A8D3B-1AAA-4F87-A0CF-8C1A2AFE6580}">
      <dgm:prSet/>
      <dgm:spPr/>
      <dgm:t>
        <a:bodyPr/>
        <a:lstStyle/>
        <a:p>
          <a:endParaRPr lang="en-US"/>
        </a:p>
      </dgm:t>
    </dgm:pt>
    <dgm:pt modelId="{9EA3C026-E500-4489-BE31-63E86147CFD8}" type="sibTrans" cxnId="{9F4A8D3B-1AAA-4F87-A0CF-8C1A2AFE6580}">
      <dgm:prSet/>
      <dgm:spPr/>
      <dgm:t>
        <a:bodyPr/>
        <a:lstStyle/>
        <a:p>
          <a:endParaRPr lang="en-US"/>
        </a:p>
      </dgm:t>
    </dgm:pt>
    <dgm:pt modelId="{E52F3D6F-ED25-47A5-A7F5-F6B316149A16}">
      <dgm:prSet/>
      <dgm:spPr/>
      <dgm:t>
        <a:bodyPr/>
        <a:lstStyle/>
        <a:p>
          <a:r>
            <a:rPr lang="en-US" b="0" i="0"/>
            <a:t>Removal of Unit Productions</a:t>
          </a:r>
          <a:endParaRPr lang="en-US"/>
        </a:p>
      </dgm:t>
    </dgm:pt>
    <dgm:pt modelId="{115BCB5F-F842-453D-A2DE-86305CC1F5CA}" type="parTrans" cxnId="{E6970D52-7182-4D45-BDB9-CFAA14E1A790}">
      <dgm:prSet/>
      <dgm:spPr/>
      <dgm:t>
        <a:bodyPr/>
        <a:lstStyle/>
        <a:p>
          <a:endParaRPr lang="en-US"/>
        </a:p>
      </dgm:t>
    </dgm:pt>
    <dgm:pt modelId="{79373AE1-CFBD-43F5-9FC5-EE3B4280DFC7}" type="sibTrans" cxnId="{E6970D52-7182-4D45-BDB9-CFAA14E1A790}">
      <dgm:prSet/>
      <dgm:spPr/>
      <dgm:t>
        <a:bodyPr/>
        <a:lstStyle/>
        <a:p>
          <a:endParaRPr lang="en-US"/>
        </a:p>
      </dgm:t>
    </dgm:pt>
    <dgm:pt modelId="{955D1603-0A0E-4244-AB88-6A1D7DABF6CD}">
      <dgm:prSet/>
      <dgm:spPr/>
      <dgm:t>
        <a:bodyPr/>
        <a:lstStyle/>
        <a:p>
          <a:r>
            <a:rPr lang="en-US" b="0" i="0" dirty="0"/>
            <a:t>Removal of Null/</a:t>
          </a:r>
          <a:r>
            <a:rPr lang="el-GR" b="0" i="0" dirty="0"/>
            <a:t>ε</a:t>
          </a:r>
          <a:r>
            <a:rPr lang="en-US" b="0" i="0" dirty="0"/>
            <a:t>-Production</a:t>
          </a:r>
          <a:endParaRPr lang="en-US" dirty="0"/>
        </a:p>
      </dgm:t>
    </dgm:pt>
    <dgm:pt modelId="{7029CD55-D5DF-4832-A7CA-2ABF212B3C61}" type="parTrans" cxnId="{40DC0015-07BC-43B3-8781-A985836AC745}">
      <dgm:prSet/>
      <dgm:spPr/>
      <dgm:t>
        <a:bodyPr/>
        <a:lstStyle/>
        <a:p>
          <a:endParaRPr lang="en-US"/>
        </a:p>
      </dgm:t>
    </dgm:pt>
    <dgm:pt modelId="{D9A5213D-A6E7-4CE2-8E2D-CA46908ED2A8}" type="sibTrans" cxnId="{40DC0015-07BC-43B3-8781-A985836AC745}">
      <dgm:prSet/>
      <dgm:spPr/>
      <dgm:t>
        <a:bodyPr/>
        <a:lstStyle/>
        <a:p>
          <a:endParaRPr lang="en-US"/>
        </a:p>
      </dgm:t>
    </dgm:pt>
    <dgm:pt modelId="{4812F2BE-9226-4D22-94E3-80413304D5DC}" type="pres">
      <dgm:prSet presAssocID="{7A5AABE0-B9FD-464F-ADC2-1F53E92AF6FC}" presName="outerComposite" presStyleCnt="0">
        <dgm:presLayoutVars>
          <dgm:chMax val="5"/>
          <dgm:dir/>
          <dgm:resizeHandles val="exact"/>
        </dgm:presLayoutVars>
      </dgm:prSet>
      <dgm:spPr/>
    </dgm:pt>
    <dgm:pt modelId="{52F43DB6-1C97-4170-B927-604A1C9F42A5}" type="pres">
      <dgm:prSet presAssocID="{7A5AABE0-B9FD-464F-ADC2-1F53E92AF6FC}" presName="dummyMaxCanvas" presStyleCnt="0">
        <dgm:presLayoutVars/>
      </dgm:prSet>
      <dgm:spPr/>
    </dgm:pt>
    <dgm:pt modelId="{FF7D4E74-C4F3-42B0-A238-2DD00412BF58}" type="pres">
      <dgm:prSet presAssocID="{7A5AABE0-B9FD-464F-ADC2-1F53E92AF6FC}" presName="FiveNodes_1" presStyleLbl="node1" presStyleIdx="0" presStyleCnt="5">
        <dgm:presLayoutVars>
          <dgm:bulletEnabled val="1"/>
        </dgm:presLayoutVars>
      </dgm:prSet>
      <dgm:spPr/>
    </dgm:pt>
    <dgm:pt modelId="{D0FC52C8-329E-4D25-8E08-16DD8EEA7221}" type="pres">
      <dgm:prSet presAssocID="{7A5AABE0-B9FD-464F-ADC2-1F53E92AF6FC}" presName="FiveNodes_2" presStyleLbl="node1" presStyleIdx="1" presStyleCnt="5">
        <dgm:presLayoutVars>
          <dgm:bulletEnabled val="1"/>
        </dgm:presLayoutVars>
      </dgm:prSet>
      <dgm:spPr/>
    </dgm:pt>
    <dgm:pt modelId="{C50BA385-6E1E-4D85-B94C-71903FB2D2F7}" type="pres">
      <dgm:prSet presAssocID="{7A5AABE0-B9FD-464F-ADC2-1F53E92AF6FC}" presName="FiveNodes_3" presStyleLbl="node1" presStyleIdx="2" presStyleCnt="5">
        <dgm:presLayoutVars>
          <dgm:bulletEnabled val="1"/>
        </dgm:presLayoutVars>
      </dgm:prSet>
      <dgm:spPr/>
    </dgm:pt>
    <dgm:pt modelId="{98C5CFA7-8DA3-45A5-9B79-390A82093F4A}" type="pres">
      <dgm:prSet presAssocID="{7A5AABE0-B9FD-464F-ADC2-1F53E92AF6FC}" presName="FiveNodes_4" presStyleLbl="node1" presStyleIdx="3" presStyleCnt="5">
        <dgm:presLayoutVars>
          <dgm:bulletEnabled val="1"/>
        </dgm:presLayoutVars>
      </dgm:prSet>
      <dgm:spPr/>
    </dgm:pt>
    <dgm:pt modelId="{C66C86DD-6BB7-4D11-AFB4-853E5A834822}" type="pres">
      <dgm:prSet presAssocID="{7A5AABE0-B9FD-464F-ADC2-1F53E92AF6FC}" presName="FiveNodes_5" presStyleLbl="node1" presStyleIdx="4" presStyleCnt="5">
        <dgm:presLayoutVars>
          <dgm:bulletEnabled val="1"/>
        </dgm:presLayoutVars>
      </dgm:prSet>
      <dgm:spPr/>
    </dgm:pt>
    <dgm:pt modelId="{4E2F576B-F458-48A7-943E-AE88F3CB88A3}" type="pres">
      <dgm:prSet presAssocID="{7A5AABE0-B9FD-464F-ADC2-1F53E92AF6FC}" presName="FiveConn_1-2" presStyleLbl="fgAccFollowNode1" presStyleIdx="0" presStyleCnt="4">
        <dgm:presLayoutVars>
          <dgm:bulletEnabled val="1"/>
        </dgm:presLayoutVars>
      </dgm:prSet>
      <dgm:spPr/>
    </dgm:pt>
    <dgm:pt modelId="{9F319689-D45B-4A58-9DD5-F005B036516D}" type="pres">
      <dgm:prSet presAssocID="{7A5AABE0-B9FD-464F-ADC2-1F53E92AF6FC}" presName="FiveConn_2-3" presStyleLbl="fgAccFollowNode1" presStyleIdx="1" presStyleCnt="4">
        <dgm:presLayoutVars>
          <dgm:bulletEnabled val="1"/>
        </dgm:presLayoutVars>
      </dgm:prSet>
      <dgm:spPr/>
    </dgm:pt>
    <dgm:pt modelId="{B6D82F53-3E1F-43EB-B99A-BFB01170026A}" type="pres">
      <dgm:prSet presAssocID="{7A5AABE0-B9FD-464F-ADC2-1F53E92AF6FC}" presName="FiveConn_3-4" presStyleLbl="fgAccFollowNode1" presStyleIdx="2" presStyleCnt="4">
        <dgm:presLayoutVars>
          <dgm:bulletEnabled val="1"/>
        </dgm:presLayoutVars>
      </dgm:prSet>
      <dgm:spPr/>
    </dgm:pt>
    <dgm:pt modelId="{D3F0E01D-B95A-44B7-8183-0C905AFAC413}" type="pres">
      <dgm:prSet presAssocID="{7A5AABE0-B9FD-464F-ADC2-1F53E92AF6FC}" presName="FiveConn_4-5" presStyleLbl="fgAccFollowNode1" presStyleIdx="3" presStyleCnt="4">
        <dgm:presLayoutVars>
          <dgm:bulletEnabled val="1"/>
        </dgm:presLayoutVars>
      </dgm:prSet>
      <dgm:spPr/>
    </dgm:pt>
    <dgm:pt modelId="{F7278CA3-28B4-4561-A359-C58543FE2253}" type="pres">
      <dgm:prSet presAssocID="{7A5AABE0-B9FD-464F-ADC2-1F53E92AF6FC}" presName="FiveNodes_1_text" presStyleLbl="node1" presStyleIdx="4" presStyleCnt="5">
        <dgm:presLayoutVars>
          <dgm:bulletEnabled val="1"/>
        </dgm:presLayoutVars>
      </dgm:prSet>
      <dgm:spPr/>
    </dgm:pt>
    <dgm:pt modelId="{0EEC9CC7-4AC4-4AF4-8FA0-B8796C639EE6}" type="pres">
      <dgm:prSet presAssocID="{7A5AABE0-B9FD-464F-ADC2-1F53E92AF6FC}" presName="FiveNodes_2_text" presStyleLbl="node1" presStyleIdx="4" presStyleCnt="5">
        <dgm:presLayoutVars>
          <dgm:bulletEnabled val="1"/>
        </dgm:presLayoutVars>
      </dgm:prSet>
      <dgm:spPr/>
    </dgm:pt>
    <dgm:pt modelId="{8EB2DA41-E8AD-40A9-B31A-8264EC09D21A}" type="pres">
      <dgm:prSet presAssocID="{7A5AABE0-B9FD-464F-ADC2-1F53E92AF6FC}" presName="FiveNodes_3_text" presStyleLbl="node1" presStyleIdx="4" presStyleCnt="5">
        <dgm:presLayoutVars>
          <dgm:bulletEnabled val="1"/>
        </dgm:presLayoutVars>
      </dgm:prSet>
      <dgm:spPr/>
    </dgm:pt>
    <dgm:pt modelId="{BE95FD7D-54D2-4C01-A844-0D4E62506EBC}" type="pres">
      <dgm:prSet presAssocID="{7A5AABE0-B9FD-464F-ADC2-1F53E92AF6FC}" presName="FiveNodes_4_text" presStyleLbl="node1" presStyleIdx="4" presStyleCnt="5">
        <dgm:presLayoutVars>
          <dgm:bulletEnabled val="1"/>
        </dgm:presLayoutVars>
      </dgm:prSet>
      <dgm:spPr/>
    </dgm:pt>
    <dgm:pt modelId="{27712DA6-35D2-41EB-BD55-E631E07F0D4B}" type="pres">
      <dgm:prSet presAssocID="{7A5AABE0-B9FD-464F-ADC2-1F53E92AF6FC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D8E430A-FEBD-438D-A8D7-60C1ECA9EC4D}" type="presOf" srcId="{07C86A9E-F56B-48C4-A9B3-9DFE410200F0}" destId="{F7278CA3-28B4-4561-A359-C58543FE2253}" srcOrd="1" destOrd="0" presId="urn:microsoft.com/office/officeart/2005/8/layout/vProcess5"/>
    <dgm:cxn modelId="{40DC0015-07BC-43B3-8781-A985836AC745}" srcId="{7A5AABE0-B9FD-464F-ADC2-1F53E92AF6FC}" destId="{955D1603-0A0E-4244-AB88-6A1D7DABF6CD}" srcOrd="4" destOrd="0" parTransId="{7029CD55-D5DF-4832-A7CA-2ABF212B3C61}" sibTransId="{D9A5213D-A6E7-4CE2-8E2D-CA46908ED2A8}"/>
    <dgm:cxn modelId="{6658E21B-6B17-4692-B2D0-36DF35550A09}" type="presOf" srcId="{E52F3D6F-ED25-47A5-A7F5-F6B316149A16}" destId="{BE95FD7D-54D2-4C01-A844-0D4E62506EBC}" srcOrd="1" destOrd="0" presId="urn:microsoft.com/office/officeart/2005/8/layout/vProcess5"/>
    <dgm:cxn modelId="{F8B30535-3CCA-4D74-B596-30EC7E268E26}" type="presOf" srcId="{5333D78F-7040-4943-9207-0EDE0988AE24}" destId="{9F319689-D45B-4A58-9DD5-F005B036516D}" srcOrd="0" destOrd="0" presId="urn:microsoft.com/office/officeart/2005/8/layout/vProcess5"/>
    <dgm:cxn modelId="{7779333B-89F5-4905-B5BF-108C51D039E5}" type="presOf" srcId="{C6485470-99A1-49E3-ABB6-968007C9B1E0}" destId="{4E2F576B-F458-48A7-943E-AE88F3CB88A3}" srcOrd="0" destOrd="0" presId="urn:microsoft.com/office/officeart/2005/8/layout/vProcess5"/>
    <dgm:cxn modelId="{9F4A8D3B-1AAA-4F87-A0CF-8C1A2AFE6580}" srcId="{7A5AABE0-B9FD-464F-ADC2-1F53E92AF6FC}" destId="{29EA1974-04DA-4CCF-A233-F8583FB40C65}" srcOrd="2" destOrd="0" parTransId="{99CC3833-E466-40C3-82DB-63A581BE668D}" sibTransId="{9EA3C026-E500-4489-BE31-63E86147CFD8}"/>
    <dgm:cxn modelId="{2C77C23B-0E12-41FD-A562-96B4EA341D26}" type="presOf" srcId="{7A5AABE0-B9FD-464F-ADC2-1F53E92AF6FC}" destId="{4812F2BE-9226-4D22-94E3-80413304D5DC}" srcOrd="0" destOrd="0" presId="urn:microsoft.com/office/officeart/2005/8/layout/vProcess5"/>
    <dgm:cxn modelId="{1846725F-20F0-4C2A-8996-EC3C73A889F0}" srcId="{7A5AABE0-B9FD-464F-ADC2-1F53E92AF6FC}" destId="{9A324B99-50FF-4C12-B03F-232F6627D6C2}" srcOrd="1" destOrd="0" parTransId="{C89BDAC8-97D3-4BB7-806B-5D8DC58F58B6}" sibTransId="{5333D78F-7040-4943-9207-0EDE0988AE24}"/>
    <dgm:cxn modelId="{8CA2E441-0E6D-4982-BA7F-C0B7A49FAEC6}" type="presOf" srcId="{9EA3C026-E500-4489-BE31-63E86147CFD8}" destId="{B6D82F53-3E1F-43EB-B99A-BFB01170026A}" srcOrd="0" destOrd="0" presId="urn:microsoft.com/office/officeart/2005/8/layout/vProcess5"/>
    <dgm:cxn modelId="{E6970D52-7182-4D45-BDB9-CFAA14E1A790}" srcId="{7A5AABE0-B9FD-464F-ADC2-1F53E92AF6FC}" destId="{E52F3D6F-ED25-47A5-A7F5-F6B316149A16}" srcOrd="3" destOrd="0" parTransId="{115BCB5F-F842-453D-A2DE-86305CC1F5CA}" sibTransId="{79373AE1-CFBD-43F5-9FC5-EE3B4280DFC7}"/>
    <dgm:cxn modelId="{F9327F77-9B90-457E-BF39-752FEAA73111}" type="presOf" srcId="{E52F3D6F-ED25-47A5-A7F5-F6B316149A16}" destId="{98C5CFA7-8DA3-45A5-9B79-390A82093F4A}" srcOrd="0" destOrd="0" presId="urn:microsoft.com/office/officeart/2005/8/layout/vProcess5"/>
    <dgm:cxn modelId="{2A7A9287-7E6F-4150-B400-CA43040BDC6B}" type="presOf" srcId="{955D1603-0A0E-4244-AB88-6A1D7DABF6CD}" destId="{C66C86DD-6BB7-4D11-AFB4-853E5A834822}" srcOrd="0" destOrd="0" presId="urn:microsoft.com/office/officeart/2005/8/layout/vProcess5"/>
    <dgm:cxn modelId="{0B1B7C89-1EE8-4DC1-A344-ACED413CBB88}" type="presOf" srcId="{9A324B99-50FF-4C12-B03F-232F6627D6C2}" destId="{0EEC9CC7-4AC4-4AF4-8FA0-B8796C639EE6}" srcOrd="1" destOrd="0" presId="urn:microsoft.com/office/officeart/2005/8/layout/vProcess5"/>
    <dgm:cxn modelId="{CA955E94-3DB0-42BB-AA86-11B091ECEEFA}" type="presOf" srcId="{79373AE1-CFBD-43F5-9FC5-EE3B4280DFC7}" destId="{D3F0E01D-B95A-44B7-8183-0C905AFAC413}" srcOrd="0" destOrd="0" presId="urn:microsoft.com/office/officeart/2005/8/layout/vProcess5"/>
    <dgm:cxn modelId="{D3F53E9E-F945-48B2-8C14-F769CBAA28B7}" type="presOf" srcId="{07C86A9E-F56B-48C4-A9B3-9DFE410200F0}" destId="{FF7D4E74-C4F3-42B0-A238-2DD00412BF58}" srcOrd="0" destOrd="0" presId="urn:microsoft.com/office/officeart/2005/8/layout/vProcess5"/>
    <dgm:cxn modelId="{0CA5C6A9-1AF7-42CB-920F-547746866E06}" type="presOf" srcId="{9A324B99-50FF-4C12-B03F-232F6627D6C2}" destId="{D0FC52C8-329E-4D25-8E08-16DD8EEA7221}" srcOrd="0" destOrd="0" presId="urn:microsoft.com/office/officeart/2005/8/layout/vProcess5"/>
    <dgm:cxn modelId="{644AB6C1-3275-4C47-9070-C5D5F04F1F13}" type="presOf" srcId="{29EA1974-04DA-4CCF-A233-F8583FB40C65}" destId="{C50BA385-6E1E-4D85-B94C-71903FB2D2F7}" srcOrd="0" destOrd="0" presId="urn:microsoft.com/office/officeart/2005/8/layout/vProcess5"/>
    <dgm:cxn modelId="{4583B8D2-0F93-4FBA-8AE5-49043975000C}" srcId="{7A5AABE0-B9FD-464F-ADC2-1F53E92AF6FC}" destId="{07C86A9E-F56B-48C4-A9B3-9DFE410200F0}" srcOrd="0" destOrd="0" parTransId="{39649A59-7575-4606-9284-3805FE54BB56}" sibTransId="{C6485470-99A1-49E3-ABB6-968007C9B1E0}"/>
    <dgm:cxn modelId="{3EA835DD-907C-47CF-85E3-FE0DE9AC77CC}" type="presOf" srcId="{29EA1974-04DA-4CCF-A233-F8583FB40C65}" destId="{8EB2DA41-E8AD-40A9-B31A-8264EC09D21A}" srcOrd="1" destOrd="0" presId="urn:microsoft.com/office/officeart/2005/8/layout/vProcess5"/>
    <dgm:cxn modelId="{D26591FD-B112-424B-887A-95AD3500F098}" type="presOf" srcId="{955D1603-0A0E-4244-AB88-6A1D7DABF6CD}" destId="{27712DA6-35D2-41EB-BD55-E631E07F0D4B}" srcOrd="1" destOrd="0" presId="urn:microsoft.com/office/officeart/2005/8/layout/vProcess5"/>
    <dgm:cxn modelId="{B83CF98D-57B5-45E7-8071-9ECE33B7D9EE}" type="presParOf" srcId="{4812F2BE-9226-4D22-94E3-80413304D5DC}" destId="{52F43DB6-1C97-4170-B927-604A1C9F42A5}" srcOrd="0" destOrd="0" presId="urn:microsoft.com/office/officeart/2005/8/layout/vProcess5"/>
    <dgm:cxn modelId="{960236CB-C932-4335-9A37-17DFBE378909}" type="presParOf" srcId="{4812F2BE-9226-4D22-94E3-80413304D5DC}" destId="{FF7D4E74-C4F3-42B0-A238-2DD00412BF58}" srcOrd="1" destOrd="0" presId="urn:microsoft.com/office/officeart/2005/8/layout/vProcess5"/>
    <dgm:cxn modelId="{D3B17C8E-878D-40EF-937E-F3BC6C7494F9}" type="presParOf" srcId="{4812F2BE-9226-4D22-94E3-80413304D5DC}" destId="{D0FC52C8-329E-4D25-8E08-16DD8EEA7221}" srcOrd="2" destOrd="0" presId="urn:microsoft.com/office/officeart/2005/8/layout/vProcess5"/>
    <dgm:cxn modelId="{DBE4AACA-28D0-4550-B609-7489634449DD}" type="presParOf" srcId="{4812F2BE-9226-4D22-94E3-80413304D5DC}" destId="{C50BA385-6E1E-4D85-B94C-71903FB2D2F7}" srcOrd="3" destOrd="0" presId="urn:microsoft.com/office/officeart/2005/8/layout/vProcess5"/>
    <dgm:cxn modelId="{84E4BC08-A9F0-4909-A988-EF76E201C7BB}" type="presParOf" srcId="{4812F2BE-9226-4D22-94E3-80413304D5DC}" destId="{98C5CFA7-8DA3-45A5-9B79-390A82093F4A}" srcOrd="4" destOrd="0" presId="urn:microsoft.com/office/officeart/2005/8/layout/vProcess5"/>
    <dgm:cxn modelId="{9CF45B39-7D7A-4E34-9322-700A48BAD1C7}" type="presParOf" srcId="{4812F2BE-9226-4D22-94E3-80413304D5DC}" destId="{C66C86DD-6BB7-4D11-AFB4-853E5A834822}" srcOrd="5" destOrd="0" presId="urn:microsoft.com/office/officeart/2005/8/layout/vProcess5"/>
    <dgm:cxn modelId="{6E7DC0B7-217E-4531-8F69-916F28FC09AC}" type="presParOf" srcId="{4812F2BE-9226-4D22-94E3-80413304D5DC}" destId="{4E2F576B-F458-48A7-943E-AE88F3CB88A3}" srcOrd="6" destOrd="0" presId="urn:microsoft.com/office/officeart/2005/8/layout/vProcess5"/>
    <dgm:cxn modelId="{BC80D5CF-7459-48B4-A42C-250E269AB8ED}" type="presParOf" srcId="{4812F2BE-9226-4D22-94E3-80413304D5DC}" destId="{9F319689-D45B-4A58-9DD5-F005B036516D}" srcOrd="7" destOrd="0" presId="urn:microsoft.com/office/officeart/2005/8/layout/vProcess5"/>
    <dgm:cxn modelId="{839011BA-C19A-4AD6-8540-E00DBF848C64}" type="presParOf" srcId="{4812F2BE-9226-4D22-94E3-80413304D5DC}" destId="{B6D82F53-3E1F-43EB-B99A-BFB01170026A}" srcOrd="8" destOrd="0" presId="urn:microsoft.com/office/officeart/2005/8/layout/vProcess5"/>
    <dgm:cxn modelId="{9BAD93CA-0A67-46E7-939D-2FF9A1481B35}" type="presParOf" srcId="{4812F2BE-9226-4D22-94E3-80413304D5DC}" destId="{D3F0E01D-B95A-44B7-8183-0C905AFAC413}" srcOrd="9" destOrd="0" presId="urn:microsoft.com/office/officeart/2005/8/layout/vProcess5"/>
    <dgm:cxn modelId="{7E49781C-C458-49A4-9028-02D829EC30B5}" type="presParOf" srcId="{4812F2BE-9226-4D22-94E3-80413304D5DC}" destId="{F7278CA3-28B4-4561-A359-C58543FE2253}" srcOrd="10" destOrd="0" presId="urn:microsoft.com/office/officeart/2005/8/layout/vProcess5"/>
    <dgm:cxn modelId="{BB255290-6931-48AB-811D-2D19C06126C9}" type="presParOf" srcId="{4812F2BE-9226-4D22-94E3-80413304D5DC}" destId="{0EEC9CC7-4AC4-4AF4-8FA0-B8796C639EE6}" srcOrd="11" destOrd="0" presId="urn:microsoft.com/office/officeart/2005/8/layout/vProcess5"/>
    <dgm:cxn modelId="{59C148B6-F9E5-4B66-A193-D40479E190B2}" type="presParOf" srcId="{4812F2BE-9226-4D22-94E3-80413304D5DC}" destId="{8EB2DA41-E8AD-40A9-B31A-8264EC09D21A}" srcOrd="12" destOrd="0" presId="urn:microsoft.com/office/officeart/2005/8/layout/vProcess5"/>
    <dgm:cxn modelId="{8B082C43-639C-4119-9A28-C370A90D4D89}" type="presParOf" srcId="{4812F2BE-9226-4D22-94E3-80413304D5DC}" destId="{BE95FD7D-54D2-4C01-A844-0D4E62506EBC}" srcOrd="13" destOrd="0" presId="urn:microsoft.com/office/officeart/2005/8/layout/vProcess5"/>
    <dgm:cxn modelId="{5FBBAEB2-796C-4E35-9A89-D8913EBE3237}" type="presParOf" srcId="{4812F2BE-9226-4D22-94E3-80413304D5DC}" destId="{27712DA6-35D2-41EB-BD55-E631E07F0D4B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9EA239-7A36-47B3-9082-AF69757CC2C8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389BFCB-D96A-4811-BAA0-833FE756DAC0}">
      <dgm:prSet/>
      <dgm:spPr/>
      <dgm:t>
        <a:bodyPr/>
        <a:lstStyle/>
        <a:p>
          <a:r>
            <a:rPr lang="en-US"/>
            <a:t>Id+id*id</a:t>
          </a:r>
        </a:p>
      </dgm:t>
    </dgm:pt>
    <dgm:pt modelId="{D1F88B31-E18C-41BC-BBEF-A5E64C0CEF1E}" type="parTrans" cxnId="{42E91DCE-9D33-44CF-A2D0-60AA2D93F6E9}">
      <dgm:prSet/>
      <dgm:spPr/>
      <dgm:t>
        <a:bodyPr/>
        <a:lstStyle/>
        <a:p>
          <a:endParaRPr lang="en-US"/>
        </a:p>
      </dgm:t>
    </dgm:pt>
    <dgm:pt modelId="{F5F750C3-3846-4E9B-A983-9FC84BFB8FEB}" type="sibTrans" cxnId="{42E91DCE-9D33-44CF-A2D0-60AA2D93F6E9}">
      <dgm:prSet/>
      <dgm:spPr/>
      <dgm:t>
        <a:bodyPr/>
        <a:lstStyle/>
        <a:p>
          <a:endParaRPr lang="en-US"/>
        </a:p>
      </dgm:t>
    </dgm:pt>
    <dgm:pt modelId="{2186F4B1-BA0F-4E02-846B-BE41F91909A6}">
      <dgm:prSet/>
      <dgm:spPr/>
      <dgm:t>
        <a:bodyPr/>
        <a:lstStyle/>
        <a:p>
          <a:r>
            <a:rPr lang="en-US" dirty="0" err="1"/>
            <a:t>E</a:t>
          </a:r>
          <a:r>
            <a:rPr lang="en-US" dirty="0" err="1">
              <a:sym typeface="Wingdings" panose="05000000000000000000" pitchFamily="2" charset="2"/>
            </a:rPr>
            <a:t></a:t>
          </a:r>
          <a:r>
            <a:rPr lang="en-US" dirty="0" err="1"/>
            <a:t>E+E</a:t>
          </a:r>
          <a:r>
            <a:rPr lang="en-US" dirty="0" err="1">
              <a:sym typeface="Wingdings" panose="05000000000000000000" pitchFamily="2" charset="2"/>
            </a:rPr>
            <a:t></a:t>
          </a:r>
          <a:r>
            <a:rPr lang="en-US" dirty="0" err="1"/>
            <a:t>id+E</a:t>
          </a:r>
          <a:r>
            <a:rPr lang="en-US" dirty="0" err="1">
              <a:sym typeface="Wingdings" panose="05000000000000000000" pitchFamily="2" charset="2"/>
            </a:rPr>
            <a:t></a:t>
          </a:r>
          <a:r>
            <a:rPr lang="en-US" dirty="0" err="1"/>
            <a:t>id+E</a:t>
          </a:r>
          <a:r>
            <a:rPr lang="en-US" dirty="0"/>
            <a:t>*</a:t>
          </a:r>
          <a:r>
            <a:rPr lang="en-US" dirty="0" err="1"/>
            <a:t>E</a:t>
          </a:r>
          <a:r>
            <a:rPr lang="en-US" dirty="0" err="1">
              <a:sym typeface="Wingdings" panose="05000000000000000000" pitchFamily="2" charset="2"/>
            </a:rPr>
            <a:t></a:t>
          </a:r>
          <a:r>
            <a:rPr lang="en-US" dirty="0" err="1"/>
            <a:t>id+id</a:t>
          </a:r>
          <a:r>
            <a:rPr lang="en-US" dirty="0"/>
            <a:t>*</a:t>
          </a:r>
          <a:r>
            <a:rPr lang="en-US" dirty="0" err="1"/>
            <a:t>E</a:t>
          </a:r>
          <a:r>
            <a:rPr lang="en-US" dirty="0" err="1">
              <a:sym typeface="Wingdings" panose="05000000000000000000" pitchFamily="2" charset="2"/>
            </a:rPr>
            <a:t></a:t>
          </a:r>
          <a:r>
            <a:rPr lang="en-US" dirty="0" err="1"/>
            <a:t>id+id</a:t>
          </a:r>
          <a:r>
            <a:rPr lang="en-US" dirty="0"/>
            <a:t>*id///20</a:t>
          </a:r>
        </a:p>
      </dgm:t>
    </dgm:pt>
    <dgm:pt modelId="{ABA7E1A5-C777-4164-8FF4-661EF548C573}" type="parTrans" cxnId="{C588042D-596A-467C-8EA2-F42B6E70D5D4}">
      <dgm:prSet/>
      <dgm:spPr/>
      <dgm:t>
        <a:bodyPr/>
        <a:lstStyle/>
        <a:p>
          <a:endParaRPr lang="en-US"/>
        </a:p>
      </dgm:t>
    </dgm:pt>
    <dgm:pt modelId="{5ED82839-E853-4A48-881A-986C770C2033}" type="sibTrans" cxnId="{C588042D-596A-467C-8EA2-F42B6E70D5D4}">
      <dgm:prSet/>
      <dgm:spPr/>
      <dgm:t>
        <a:bodyPr/>
        <a:lstStyle/>
        <a:p>
          <a:endParaRPr lang="en-US"/>
        </a:p>
      </dgm:t>
    </dgm:pt>
    <dgm:pt modelId="{2FCA9375-AE88-4FC8-A0F6-2A47CD23BF48}">
      <dgm:prSet/>
      <dgm:spPr/>
      <dgm:t>
        <a:bodyPr/>
        <a:lstStyle/>
        <a:p>
          <a:r>
            <a:rPr lang="en-US" dirty="0"/>
            <a:t>E</a:t>
          </a:r>
          <a:r>
            <a:rPr lang="en-US" dirty="0">
              <a:sym typeface="Wingdings" panose="05000000000000000000" pitchFamily="2" charset="2"/>
            </a:rPr>
            <a:t></a:t>
          </a:r>
          <a:r>
            <a:rPr lang="en-US" dirty="0"/>
            <a:t>E*E</a:t>
          </a:r>
          <a:r>
            <a:rPr lang="en-US" dirty="0">
              <a:sym typeface="Wingdings" panose="05000000000000000000" pitchFamily="2" charset="2"/>
            </a:rPr>
            <a:t></a:t>
          </a:r>
          <a:r>
            <a:rPr lang="en-US" dirty="0"/>
            <a:t>E+E*</a:t>
          </a:r>
          <a:r>
            <a:rPr lang="en-US" dirty="0" err="1"/>
            <a:t>E</a:t>
          </a:r>
          <a:r>
            <a:rPr lang="en-US" dirty="0" err="1">
              <a:sym typeface="Wingdings" panose="05000000000000000000" pitchFamily="2" charset="2"/>
            </a:rPr>
            <a:t></a:t>
          </a:r>
          <a:r>
            <a:rPr lang="en-US" dirty="0" err="1"/>
            <a:t>id+E</a:t>
          </a:r>
          <a:r>
            <a:rPr lang="en-US" dirty="0"/>
            <a:t>*</a:t>
          </a:r>
          <a:r>
            <a:rPr lang="en-US" dirty="0" err="1"/>
            <a:t>E</a:t>
          </a:r>
          <a:r>
            <a:rPr lang="en-US" dirty="0" err="1">
              <a:sym typeface="Wingdings" panose="05000000000000000000" pitchFamily="2" charset="2"/>
            </a:rPr>
            <a:t></a:t>
          </a:r>
          <a:r>
            <a:rPr lang="en-US" dirty="0" err="1"/>
            <a:t>id+id</a:t>
          </a:r>
          <a:r>
            <a:rPr lang="en-US" dirty="0"/>
            <a:t>*</a:t>
          </a:r>
          <a:r>
            <a:rPr lang="en-US" dirty="0" err="1"/>
            <a:t>E</a:t>
          </a:r>
          <a:r>
            <a:rPr lang="en-US" dirty="0" err="1">
              <a:sym typeface="Wingdings" panose="05000000000000000000" pitchFamily="2" charset="2"/>
            </a:rPr>
            <a:t></a:t>
          </a:r>
          <a:r>
            <a:rPr lang="en-US" dirty="0" err="1"/>
            <a:t>id+id</a:t>
          </a:r>
          <a:r>
            <a:rPr lang="en-US" dirty="0"/>
            <a:t>*id/////14</a:t>
          </a:r>
        </a:p>
      </dgm:t>
    </dgm:pt>
    <dgm:pt modelId="{DD987747-8584-428E-AECB-FB8CA3B62620}" type="parTrans" cxnId="{DBD4BCFA-C6C6-4427-8861-06BCBC903441}">
      <dgm:prSet/>
      <dgm:spPr/>
      <dgm:t>
        <a:bodyPr/>
        <a:lstStyle/>
        <a:p>
          <a:endParaRPr lang="en-US"/>
        </a:p>
      </dgm:t>
    </dgm:pt>
    <dgm:pt modelId="{194D7AEF-EDF2-4539-AFED-2B6F7A9F41E3}" type="sibTrans" cxnId="{DBD4BCFA-C6C6-4427-8861-06BCBC903441}">
      <dgm:prSet/>
      <dgm:spPr/>
      <dgm:t>
        <a:bodyPr/>
        <a:lstStyle/>
        <a:p>
          <a:endParaRPr lang="en-US"/>
        </a:p>
      </dgm:t>
    </dgm:pt>
    <dgm:pt modelId="{26D66CF8-1727-44C2-AAE1-17723D0639C3}" type="pres">
      <dgm:prSet presAssocID="{5E9EA239-7A36-47B3-9082-AF69757CC2C8}" presName="Name0" presStyleCnt="0">
        <dgm:presLayoutVars>
          <dgm:dir/>
          <dgm:animLvl val="lvl"/>
          <dgm:resizeHandles val="exact"/>
        </dgm:presLayoutVars>
      </dgm:prSet>
      <dgm:spPr/>
    </dgm:pt>
    <dgm:pt modelId="{75209178-C21D-46B8-909F-38F539E4735F}" type="pres">
      <dgm:prSet presAssocID="{2FCA9375-AE88-4FC8-A0F6-2A47CD23BF48}" presName="boxAndChildren" presStyleCnt="0"/>
      <dgm:spPr/>
    </dgm:pt>
    <dgm:pt modelId="{6FCEB8FC-0347-4BDB-8062-867C9CEBEC63}" type="pres">
      <dgm:prSet presAssocID="{2FCA9375-AE88-4FC8-A0F6-2A47CD23BF48}" presName="parentTextBox" presStyleLbl="node1" presStyleIdx="0" presStyleCnt="3"/>
      <dgm:spPr/>
    </dgm:pt>
    <dgm:pt modelId="{2B8C480E-91B5-41B0-885A-3143EB29B64B}" type="pres">
      <dgm:prSet presAssocID="{5ED82839-E853-4A48-881A-986C770C2033}" presName="sp" presStyleCnt="0"/>
      <dgm:spPr/>
    </dgm:pt>
    <dgm:pt modelId="{D4412FC1-0D27-46A7-AF67-ADC5A44BDDC6}" type="pres">
      <dgm:prSet presAssocID="{2186F4B1-BA0F-4E02-846B-BE41F91909A6}" presName="arrowAndChildren" presStyleCnt="0"/>
      <dgm:spPr/>
    </dgm:pt>
    <dgm:pt modelId="{5E9EE982-FD93-4EBD-8FF0-A725CF116A06}" type="pres">
      <dgm:prSet presAssocID="{2186F4B1-BA0F-4E02-846B-BE41F91909A6}" presName="parentTextArrow" presStyleLbl="node1" presStyleIdx="1" presStyleCnt="3"/>
      <dgm:spPr/>
    </dgm:pt>
    <dgm:pt modelId="{FF2F58CC-3557-4496-BEDA-B0433539D6FC}" type="pres">
      <dgm:prSet presAssocID="{F5F750C3-3846-4E9B-A983-9FC84BFB8FEB}" presName="sp" presStyleCnt="0"/>
      <dgm:spPr/>
    </dgm:pt>
    <dgm:pt modelId="{1A1BB358-5563-4DDB-897F-0F66BAD773FA}" type="pres">
      <dgm:prSet presAssocID="{9389BFCB-D96A-4811-BAA0-833FE756DAC0}" presName="arrowAndChildren" presStyleCnt="0"/>
      <dgm:spPr/>
    </dgm:pt>
    <dgm:pt modelId="{F7957065-29E0-49A0-92CE-2B612A7DB3FC}" type="pres">
      <dgm:prSet presAssocID="{9389BFCB-D96A-4811-BAA0-833FE756DAC0}" presName="parentTextArrow" presStyleLbl="node1" presStyleIdx="2" presStyleCnt="3"/>
      <dgm:spPr/>
    </dgm:pt>
  </dgm:ptLst>
  <dgm:cxnLst>
    <dgm:cxn modelId="{C3FB1926-BA76-4146-8F48-F2632B2B3A12}" type="presOf" srcId="{2FCA9375-AE88-4FC8-A0F6-2A47CD23BF48}" destId="{6FCEB8FC-0347-4BDB-8062-867C9CEBEC63}" srcOrd="0" destOrd="0" presId="urn:microsoft.com/office/officeart/2005/8/layout/process4"/>
    <dgm:cxn modelId="{C588042D-596A-467C-8EA2-F42B6E70D5D4}" srcId="{5E9EA239-7A36-47B3-9082-AF69757CC2C8}" destId="{2186F4B1-BA0F-4E02-846B-BE41F91909A6}" srcOrd="1" destOrd="0" parTransId="{ABA7E1A5-C777-4164-8FF4-661EF548C573}" sibTransId="{5ED82839-E853-4A48-881A-986C770C2033}"/>
    <dgm:cxn modelId="{68C80C71-DEFB-4F6C-A65C-17624DF707F5}" type="presOf" srcId="{9389BFCB-D96A-4811-BAA0-833FE756DAC0}" destId="{F7957065-29E0-49A0-92CE-2B612A7DB3FC}" srcOrd="0" destOrd="0" presId="urn:microsoft.com/office/officeart/2005/8/layout/process4"/>
    <dgm:cxn modelId="{F9C429BA-084A-4FCF-86FF-CD42AAF503BF}" type="presOf" srcId="{5E9EA239-7A36-47B3-9082-AF69757CC2C8}" destId="{26D66CF8-1727-44C2-AAE1-17723D0639C3}" srcOrd="0" destOrd="0" presId="urn:microsoft.com/office/officeart/2005/8/layout/process4"/>
    <dgm:cxn modelId="{42E91DCE-9D33-44CF-A2D0-60AA2D93F6E9}" srcId="{5E9EA239-7A36-47B3-9082-AF69757CC2C8}" destId="{9389BFCB-D96A-4811-BAA0-833FE756DAC0}" srcOrd="0" destOrd="0" parTransId="{D1F88B31-E18C-41BC-BBEF-A5E64C0CEF1E}" sibTransId="{F5F750C3-3846-4E9B-A983-9FC84BFB8FEB}"/>
    <dgm:cxn modelId="{D8B485F0-1CE2-45EA-9F23-E2D02871F060}" type="presOf" srcId="{2186F4B1-BA0F-4E02-846B-BE41F91909A6}" destId="{5E9EE982-FD93-4EBD-8FF0-A725CF116A06}" srcOrd="0" destOrd="0" presId="urn:microsoft.com/office/officeart/2005/8/layout/process4"/>
    <dgm:cxn modelId="{DBD4BCFA-C6C6-4427-8861-06BCBC903441}" srcId="{5E9EA239-7A36-47B3-9082-AF69757CC2C8}" destId="{2FCA9375-AE88-4FC8-A0F6-2A47CD23BF48}" srcOrd="2" destOrd="0" parTransId="{DD987747-8584-428E-AECB-FB8CA3B62620}" sibTransId="{194D7AEF-EDF2-4539-AFED-2B6F7A9F41E3}"/>
    <dgm:cxn modelId="{73AC6241-3F3A-48D5-AE1A-F80F991A36DE}" type="presParOf" srcId="{26D66CF8-1727-44C2-AAE1-17723D0639C3}" destId="{75209178-C21D-46B8-909F-38F539E4735F}" srcOrd="0" destOrd="0" presId="urn:microsoft.com/office/officeart/2005/8/layout/process4"/>
    <dgm:cxn modelId="{13496E24-2EBB-4294-983B-774D144A754D}" type="presParOf" srcId="{75209178-C21D-46B8-909F-38F539E4735F}" destId="{6FCEB8FC-0347-4BDB-8062-867C9CEBEC63}" srcOrd="0" destOrd="0" presId="urn:microsoft.com/office/officeart/2005/8/layout/process4"/>
    <dgm:cxn modelId="{D7A3506C-311C-4BD9-B868-1C9B5F8A38FD}" type="presParOf" srcId="{26D66CF8-1727-44C2-AAE1-17723D0639C3}" destId="{2B8C480E-91B5-41B0-885A-3143EB29B64B}" srcOrd="1" destOrd="0" presId="urn:microsoft.com/office/officeart/2005/8/layout/process4"/>
    <dgm:cxn modelId="{18A5D7F8-A963-4B24-805F-8C042B13CAD4}" type="presParOf" srcId="{26D66CF8-1727-44C2-AAE1-17723D0639C3}" destId="{D4412FC1-0D27-46A7-AF67-ADC5A44BDDC6}" srcOrd="2" destOrd="0" presId="urn:microsoft.com/office/officeart/2005/8/layout/process4"/>
    <dgm:cxn modelId="{FAD2A8DB-856F-45FD-A74E-7A277851005E}" type="presParOf" srcId="{D4412FC1-0D27-46A7-AF67-ADC5A44BDDC6}" destId="{5E9EE982-FD93-4EBD-8FF0-A725CF116A06}" srcOrd="0" destOrd="0" presId="urn:microsoft.com/office/officeart/2005/8/layout/process4"/>
    <dgm:cxn modelId="{4B012662-8ACD-4F20-A05B-7A11AB7435F0}" type="presParOf" srcId="{26D66CF8-1727-44C2-AAE1-17723D0639C3}" destId="{FF2F58CC-3557-4496-BEDA-B0433539D6FC}" srcOrd="3" destOrd="0" presId="urn:microsoft.com/office/officeart/2005/8/layout/process4"/>
    <dgm:cxn modelId="{C8086C7E-7539-4742-A004-B1454945AE81}" type="presParOf" srcId="{26D66CF8-1727-44C2-AAE1-17723D0639C3}" destId="{1A1BB358-5563-4DDB-897F-0F66BAD773FA}" srcOrd="4" destOrd="0" presId="urn:microsoft.com/office/officeart/2005/8/layout/process4"/>
    <dgm:cxn modelId="{354D5F5A-F798-4CEC-8715-9FE272565377}" type="presParOf" srcId="{1A1BB358-5563-4DDB-897F-0F66BAD773FA}" destId="{F7957065-29E0-49A0-92CE-2B612A7DB3F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7D4E74-C4F3-42B0-A238-2DD00412BF58}">
      <dsp:nvSpPr>
        <dsp:cNvPr id="0" name=""/>
        <dsp:cNvSpPr/>
      </dsp:nvSpPr>
      <dsp:spPr>
        <a:xfrm>
          <a:off x="0" y="0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Removal of Ambiguity</a:t>
          </a:r>
          <a:endParaRPr lang="en-US" sz="3100" kern="1200"/>
        </a:p>
      </dsp:txBody>
      <dsp:txXfrm>
        <a:off x="21386" y="21386"/>
        <a:ext cx="6368024" cy="687386"/>
      </dsp:txXfrm>
    </dsp:sp>
    <dsp:sp modelId="{D0FC52C8-329E-4D25-8E08-16DD8EEA7221}">
      <dsp:nvSpPr>
        <dsp:cNvPr id="0" name=""/>
        <dsp:cNvSpPr/>
      </dsp:nvSpPr>
      <dsp:spPr>
        <a:xfrm>
          <a:off x="540750" y="831568"/>
          <a:ext cx="7241351" cy="73015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Removal of Left Recursion</a:t>
          </a:r>
        </a:p>
      </dsp:txBody>
      <dsp:txXfrm>
        <a:off x="562136" y="852954"/>
        <a:ext cx="6183226" cy="687386"/>
      </dsp:txXfrm>
    </dsp:sp>
    <dsp:sp modelId="{C50BA385-6E1E-4D85-B94C-71903FB2D2F7}">
      <dsp:nvSpPr>
        <dsp:cNvPr id="0" name=""/>
        <dsp:cNvSpPr/>
      </dsp:nvSpPr>
      <dsp:spPr>
        <a:xfrm>
          <a:off x="1081500" y="1663137"/>
          <a:ext cx="7241351" cy="73015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Left Factorization of Grammar</a:t>
          </a:r>
          <a:endParaRPr lang="en-US" sz="3100" kern="1200"/>
        </a:p>
      </dsp:txBody>
      <dsp:txXfrm>
        <a:off x="1102886" y="1684523"/>
        <a:ext cx="6183226" cy="687386"/>
      </dsp:txXfrm>
    </dsp:sp>
    <dsp:sp modelId="{98C5CFA7-8DA3-45A5-9B79-390A82093F4A}">
      <dsp:nvSpPr>
        <dsp:cNvPr id="0" name=""/>
        <dsp:cNvSpPr/>
      </dsp:nvSpPr>
      <dsp:spPr>
        <a:xfrm>
          <a:off x="1622250" y="2494706"/>
          <a:ext cx="7241351" cy="73015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Removal of Unit Productions</a:t>
          </a:r>
          <a:endParaRPr lang="en-US" sz="3100" kern="1200"/>
        </a:p>
      </dsp:txBody>
      <dsp:txXfrm>
        <a:off x="1643636" y="2516092"/>
        <a:ext cx="6183226" cy="687386"/>
      </dsp:txXfrm>
    </dsp:sp>
    <dsp:sp modelId="{C66C86DD-6BB7-4D11-AFB4-853E5A834822}">
      <dsp:nvSpPr>
        <dsp:cNvPr id="0" name=""/>
        <dsp:cNvSpPr/>
      </dsp:nvSpPr>
      <dsp:spPr>
        <a:xfrm>
          <a:off x="2163000" y="3326275"/>
          <a:ext cx="7241351" cy="73015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dirty="0"/>
            <a:t>Removal of Null/</a:t>
          </a:r>
          <a:r>
            <a:rPr lang="el-GR" sz="3100" b="0" i="0" kern="1200" dirty="0"/>
            <a:t>ε</a:t>
          </a:r>
          <a:r>
            <a:rPr lang="en-US" sz="3100" b="0" i="0" kern="1200" dirty="0"/>
            <a:t>-Production</a:t>
          </a:r>
          <a:endParaRPr lang="en-US" sz="3100" kern="1200" dirty="0"/>
        </a:p>
      </dsp:txBody>
      <dsp:txXfrm>
        <a:off x="2184386" y="3347661"/>
        <a:ext cx="6183226" cy="687386"/>
      </dsp:txXfrm>
    </dsp:sp>
    <dsp:sp modelId="{4E2F576B-F458-48A7-943E-AE88F3CB88A3}">
      <dsp:nvSpPr>
        <dsp:cNvPr id="0" name=""/>
        <dsp:cNvSpPr/>
      </dsp:nvSpPr>
      <dsp:spPr>
        <a:xfrm>
          <a:off x="6766748" y="533421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6873533" y="533421"/>
        <a:ext cx="261032" cy="357138"/>
      </dsp:txXfrm>
    </dsp:sp>
    <dsp:sp modelId="{9F319689-D45B-4A58-9DD5-F005B036516D}">
      <dsp:nvSpPr>
        <dsp:cNvPr id="0" name=""/>
        <dsp:cNvSpPr/>
      </dsp:nvSpPr>
      <dsp:spPr>
        <a:xfrm>
          <a:off x="7307498" y="1364990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414283" y="1364990"/>
        <a:ext cx="261032" cy="357138"/>
      </dsp:txXfrm>
    </dsp:sp>
    <dsp:sp modelId="{B6D82F53-3E1F-43EB-B99A-BFB01170026A}">
      <dsp:nvSpPr>
        <dsp:cNvPr id="0" name=""/>
        <dsp:cNvSpPr/>
      </dsp:nvSpPr>
      <dsp:spPr>
        <a:xfrm>
          <a:off x="7848248" y="2184389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955033" y="2184389"/>
        <a:ext cx="261032" cy="357138"/>
      </dsp:txXfrm>
    </dsp:sp>
    <dsp:sp modelId="{D3F0E01D-B95A-44B7-8183-0C905AFAC413}">
      <dsp:nvSpPr>
        <dsp:cNvPr id="0" name=""/>
        <dsp:cNvSpPr/>
      </dsp:nvSpPr>
      <dsp:spPr>
        <a:xfrm>
          <a:off x="8388998" y="3024071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8495783" y="3024071"/>
        <a:ext cx="261032" cy="3571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CEB8FC-0347-4BDB-8062-867C9CEBEC63}">
      <dsp:nvSpPr>
        <dsp:cNvPr id="0" name=""/>
        <dsp:cNvSpPr/>
      </dsp:nvSpPr>
      <dsp:spPr>
        <a:xfrm>
          <a:off x="0" y="2562579"/>
          <a:ext cx="10895369" cy="84109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E</a:t>
          </a:r>
          <a:r>
            <a:rPr lang="en-US" sz="2900" kern="1200" dirty="0">
              <a:sym typeface="Wingdings" panose="05000000000000000000" pitchFamily="2" charset="2"/>
            </a:rPr>
            <a:t></a:t>
          </a:r>
          <a:r>
            <a:rPr lang="en-US" sz="2900" kern="1200" dirty="0"/>
            <a:t>E*E</a:t>
          </a:r>
          <a:r>
            <a:rPr lang="en-US" sz="2900" kern="1200" dirty="0">
              <a:sym typeface="Wingdings" panose="05000000000000000000" pitchFamily="2" charset="2"/>
            </a:rPr>
            <a:t></a:t>
          </a:r>
          <a:r>
            <a:rPr lang="en-US" sz="2900" kern="1200" dirty="0"/>
            <a:t>E+E*</a:t>
          </a:r>
          <a:r>
            <a:rPr lang="en-US" sz="2900" kern="1200" dirty="0" err="1"/>
            <a:t>E</a:t>
          </a:r>
          <a:r>
            <a:rPr lang="en-US" sz="2900" kern="1200" dirty="0" err="1">
              <a:sym typeface="Wingdings" panose="05000000000000000000" pitchFamily="2" charset="2"/>
            </a:rPr>
            <a:t></a:t>
          </a:r>
          <a:r>
            <a:rPr lang="en-US" sz="2900" kern="1200" dirty="0" err="1"/>
            <a:t>id+E</a:t>
          </a:r>
          <a:r>
            <a:rPr lang="en-US" sz="2900" kern="1200" dirty="0"/>
            <a:t>*</a:t>
          </a:r>
          <a:r>
            <a:rPr lang="en-US" sz="2900" kern="1200" dirty="0" err="1"/>
            <a:t>E</a:t>
          </a:r>
          <a:r>
            <a:rPr lang="en-US" sz="2900" kern="1200" dirty="0" err="1">
              <a:sym typeface="Wingdings" panose="05000000000000000000" pitchFamily="2" charset="2"/>
            </a:rPr>
            <a:t></a:t>
          </a:r>
          <a:r>
            <a:rPr lang="en-US" sz="2900" kern="1200" dirty="0" err="1"/>
            <a:t>id+id</a:t>
          </a:r>
          <a:r>
            <a:rPr lang="en-US" sz="2900" kern="1200" dirty="0"/>
            <a:t>*</a:t>
          </a:r>
          <a:r>
            <a:rPr lang="en-US" sz="2900" kern="1200" dirty="0" err="1"/>
            <a:t>E</a:t>
          </a:r>
          <a:r>
            <a:rPr lang="en-US" sz="2900" kern="1200" dirty="0" err="1">
              <a:sym typeface="Wingdings" panose="05000000000000000000" pitchFamily="2" charset="2"/>
            </a:rPr>
            <a:t></a:t>
          </a:r>
          <a:r>
            <a:rPr lang="en-US" sz="2900" kern="1200" dirty="0" err="1"/>
            <a:t>id+id</a:t>
          </a:r>
          <a:r>
            <a:rPr lang="en-US" sz="2900" kern="1200" dirty="0"/>
            <a:t>*id/////14</a:t>
          </a:r>
        </a:p>
      </dsp:txBody>
      <dsp:txXfrm>
        <a:off x="0" y="2562579"/>
        <a:ext cx="10895369" cy="841095"/>
      </dsp:txXfrm>
    </dsp:sp>
    <dsp:sp modelId="{5E9EE982-FD93-4EBD-8FF0-A725CF116A06}">
      <dsp:nvSpPr>
        <dsp:cNvPr id="0" name=""/>
        <dsp:cNvSpPr/>
      </dsp:nvSpPr>
      <dsp:spPr>
        <a:xfrm rot="10800000">
          <a:off x="0" y="1281590"/>
          <a:ext cx="10895369" cy="1293605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/>
            <a:t>E</a:t>
          </a:r>
          <a:r>
            <a:rPr lang="en-US" sz="2900" kern="1200" dirty="0" err="1">
              <a:sym typeface="Wingdings" panose="05000000000000000000" pitchFamily="2" charset="2"/>
            </a:rPr>
            <a:t></a:t>
          </a:r>
          <a:r>
            <a:rPr lang="en-US" sz="2900" kern="1200" dirty="0" err="1"/>
            <a:t>E+E</a:t>
          </a:r>
          <a:r>
            <a:rPr lang="en-US" sz="2900" kern="1200" dirty="0" err="1">
              <a:sym typeface="Wingdings" panose="05000000000000000000" pitchFamily="2" charset="2"/>
            </a:rPr>
            <a:t></a:t>
          </a:r>
          <a:r>
            <a:rPr lang="en-US" sz="2900" kern="1200" dirty="0" err="1"/>
            <a:t>id+E</a:t>
          </a:r>
          <a:r>
            <a:rPr lang="en-US" sz="2900" kern="1200" dirty="0" err="1">
              <a:sym typeface="Wingdings" panose="05000000000000000000" pitchFamily="2" charset="2"/>
            </a:rPr>
            <a:t></a:t>
          </a:r>
          <a:r>
            <a:rPr lang="en-US" sz="2900" kern="1200" dirty="0" err="1"/>
            <a:t>id+E</a:t>
          </a:r>
          <a:r>
            <a:rPr lang="en-US" sz="2900" kern="1200" dirty="0"/>
            <a:t>*</a:t>
          </a:r>
          <a:r>
            <a:rPr lang="en-US" sz="2900" kern="1200" dirty="0" err="1"/>
            <a:t>E</a:t>
          </a:r>
          <a:r>
            <a:rPr lang="en-US" sz="2900" kern="1200" dirty="0" err="1">
              <a:sym typeface="Wingdings" panose="05000000000000000000" pitchFamily="2" charset="2"/>
            </a:rPr>
            <a:t></a:t>
          </a:r>
          <a:r>
            <a:rPr lang="en-US" sz="2900" kern="1200" dirty="0" err="1"/>
            <a:t>id+id</a:t>
          </a:r>
          <a:r>
            <a:rPr lang="en-US" sz="2900" kern="1200" dirty="0"/>
            <a:t>*</a:t>
          </a:r>
          <a:r>
            <a:rPr lang="en-US" sz="2900" kern="1200" dirty="0" err="1"/>
            <a:t>E</a:t>
          </a:r>
          <a:r>
            <a:rPr lang="en-US" sz="2900" kern="1200" dirty="0" err="1">
              <a:sym typeface="Wingdings" panose="05000000000000000000" pitchFamily="2" charset="2"/>
            </a:rPr>
            <a:t></a:t>
          </a:r>
          <a:r>
            <a:rPr lang="en-US" sz="2900" kern="1200" dirty="0" err="1"/>
            <a:t>id+id</a:t>
          </a:r>
          <a:r>
            <a:rPr lang="en-US" sz="2900" kern="1200" dirty="0"/>
            <a:t>*id///20</a:t>
          </a:r>
        </a:p>
      </dsp:txBody>
      <dsp:txXfrm rot="10800000">
        <a:off x="0" y="1281590"/>
        <a:ext cx="10895369" cy="840546"/>
      </dsp:txXfrm>
    </dsp:sp>
    <dsp:sp modelId="{F7957065-29E0-49A0-92CE-2B612A7DB3FC}">
      <dsp:nvSpPr>
        <dsp:cNvPr id="0" name=""/>
        <dsp:cNvSpPr/>
      </dsp:nvSpPr>
      <dsp:spPr>
        <a:xfrm rot="10800000">
          <a:off x="0" y="601"/>
          <a:ext cx="10895369" cy="1293605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Id+id*id</a:t>
          </a:r>
        </a:p>
      </dsp:txBody>
      <dsp:txXfrm rot="10800000">
        <a:off x="0" y="601"/>
        <a:ext cx="10895369" cy="8405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CD65-4C77-44EA-8251-EE8F28DE269E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3235-17B6-434B-A00A-280C3B3B5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239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CD65-4C77-44EA-8251-EE8F28DE269E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3235-17B6-434B-A00A-280C3B3B5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38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CD65-4C77-44EA-8251-EE8F28DE269E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3235-17B6-434B-A00A-280C3B3B5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343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CD65-4C77-44EA-8251-EE8F28DE269E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3235-17B6-434B-A00A-280C3B3B5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801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CD65-4C77-44EA-8251-EE8F28DE269E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3235-17B6-434B-A00A-280C3B3B5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523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CD65-4C77-44EA-8251-EE8F28DE269E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3235-17B6-434B-A00A-280C3B3B5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118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CD65-4C77-44EA-8251-EE8F28DE269E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3235-17B6-434B-A00A-280C3B3B5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022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CD65-4C77-44EA-8251-EE8F28DE269E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3235-17B6-434B-A00A-280C3B3B5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496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CD65-4C77-44EA-8251-EE8F28DE269E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3235-17B6-434B-A00A-280C3B3B5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136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CD65-4C77-44EA-8251-EE8F28DE269E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3235-17B6-434B-A00A-280C3B3B5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857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CD65-4C77-44EA-8251-EE8F28DE269E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3235-17B6-434B-A00A-280C3B3B5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068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CD65-4C77-44EA-8251-EE8F28DE269E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3235-17B6-434B-A00A-280C3B3B580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84575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CD65-4C77-44EA-8251-EE8F28DE269E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3235-17B6-434B-A00A-280C3B3B5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647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CD65-4C77-44EA-8251-EE8F28DE269E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3235-17B6-434B-A00A-280C3B3B5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54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CD65-4C77-44EA-8251-EE8F28DE269E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3235-17B6-434B-A00A-280C3B3B5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9260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CD65-4C77-44EA-8251-EE8F28DE269E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3235-17B6-434B-A00A-280C3B3B5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570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CD65-4C77-44EA-8251-EE8F28DE269E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63235-17B6-434B-A00A-280C3B3B5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39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CAECD65-4C77-44EA-8251-EE8F28DE269E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63235-17B6-434B-A00A-280C3B3B5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923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50F6A-EF65-4AF3-8EA5-F15AFD5D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Simplification of Grammar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BE33DE-C545-4247-B7FD-E18714A484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1706827"/>
              </p:ext>
            </p:extLst>
          </p:nvPr>
        </p:nvGraphicFramePr>
        <p:xfrm>
          <a:off x="646111" y="1520960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A81B280-0C7E-44ED-B753-EE86BA72ACC7}"/>
              </a:ext>
            </a:extLst>
          </p:cNvPr>
          <p:cNvSpPr txBox="1"/>
          <p:nvPr/>
        </p:nvSpPr>
        <p:spPr>
          <a:xfrm>
            <a:off x="2828925" y="5682169"/>
            <a:ext cx="829627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highlight>
                  <a:srgbClr val="008000"/>
                </a:highlight>
              </a:rPr>
              <a:t>Removal of Useless production/symbol</a:t>
            </a:r>
          </a:p>
        </p:txBody>
      </p:sp>
    </p:spTree>
    <p:extLst>
      <p:ext uri="{BB962C8B-B14F-4D97-AF65-F5344CB8AC3E}">
        <p14:creationId xmlns:p14="http://schemas.microsoft.com/office/powerpoint/2010/main" val="1472407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03BDF-DC9E-40C5-81F8-B0B4E7234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275" y="336607"/>
            <a:ext cx="10149245" cy="13246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Ambiguity of Grammar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9BF61CD-30F9-4991-9F03-1A8D9473F26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1329" y="1812761"/>
            <a:ext cx="10217367" cy="3521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0459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26CCE8-0D25-46B0-AB56-4766C3EA1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 b="1" i="0" u="sng" dirty="0">
                <a:solidFill>
                  <a:srgbClr val="FFFFFF"/>
                </a:solidFill>
                <a:effectLst/>
                <a:latin typeface="Roboto Condensed"/>
              </a:rPr>
              <a:t>Ambiguous Grammar-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1A227-737D-4B47-9C1F-A446856AA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155086"/>
            <a:ext cx="10307638" cy="4702914"/>
          </a:xfrm>
        </p:spPr>
        <p:txBody>
          <a:bodyPr>
            <a:normAutofit/>
          </a:bodyPr>
          <a:lstStyle/>
          <a:p>
            <a:pPr fontAlgn="base">
              <a:lnSpc>
                <a:spcPct val="90000"/>
              </a:lnSpc>
            </a:pPr>
            <a:r>
              <a:rPr lang="en-US" b="0" i="0" dirty="0">
                <a:effectLst/>
                <a:latin typeface="Arimo"/>
              </a:rPr>
              <a:t>A grammar is said to ambiguous if for any string generated by it, it produces more than one-</a:t>
            </a:r>
          </a:p>
          <a:p>
            <a:pPr lvl="1" fontAlgn="base">
              <a:lnSpc>
                <a:spcPct val="90000"/>
              </a:lnSpc>
            </a:pPr>
            <a:r>
              <a:rPr lang="en-US" b="0" i="0" dirty="0">
                <a:effectLst/>
                <a:latin typeface="Arimo"/>
              </a:rPr>
              <a:t>Parse tree</a:t>
            </a:r>
          </a:p>
          <a:p>
            <a:pPr lvl="1" fontAlgn="base">
              <a:lnSpc>
                <a:spcPct val="90000"/>
              </a:lnSpc>
            </a:pPr>
            <a:r>
              <a:rPr lang="en-US" b="0" i="0" dirty="0">
                <a:effectLst/>
                <a:latin typeface="Arimo"/>
              </a:rPr>
              <a:t>Or derivation tree</a:t>
            </a:r>
          </a:p>
          <a:p>
            <a:pPr lvl="1" fontAlgn="base">
              <a:lnSpc>
                <a:spcPct val="90000"/>
              </a:lnSpc>
            </a:pPr>
            <a:r>
              <a:rPr lang="en-US" b="0" i="0" dirty="0">
                <a:effectLst/>
                <a:latin typeface="Arimo"/>
              </a:rPr>
              <a:t>Or syntax tree</a:t>
            </a:r>
          </a:p>
          <a:p>
            <a:pPr lvl="1" fontAlgn="base">
              <a:lnSpc>
                <a:spcPct val="90000"/>
              </a:lnSpc>
            </a:pPr>
            <a:r>
              <a:rPr lang="en-US" b="0" i="0" dirty="0">
                <a:effectLst/>
                <a:latin typeface="Arimo"/>
              </a:rPr>
              <a:t>Or leftmost derivation</a:t>
            </a:r>
          </a:p>
          <a:p>
            <a:pPr lvl="1" fontAlgn="base">
              <a:lnSpc>
                <a:spcPct val="90000"/>
              </a:lnSpc>
            </a:pPr>
            <a:r>
              <a:rPr lang="en-US" b="0" i="0" dirty="0">
                <a:effectLst/>
                <a:latin typeface="Arimo"/>
              </a:rPr>
              <a:t>Or rightmost derivation</a:t>
            </a:r>
          </a:p>
          <a:p>
            <a:pPr fontAlgn="base">
              <a:lnSpc>
                <a:spcPct val="90000"/>
              </a:lnSpc>
            </a:pPr>
            <a:r>
              <a:rPr lang="en-US" b="1" i="0" u="sng" dirty="0">
                <a:effectLst/>
                <a:latin typeface="Roboto Condensed"/>
              </a:rPr>
              <a:t>Example-</a:t>
            </a:r>
            <a:endParaRPr lang="en-US" b="1" i="0" dirty="0">
              <a:effectLst/>
              <a:latin typeface="Roboto Condensed"/>
            </a:endParaRPr>
          </a:p>
          <a:p>
            <a:pPr fontAlgn="base">
              <a:lnSpc>
                <a:spcPct val="90000"/>
              </a:lnSpc>
            </a:pPr>
            <a:r>
              <a:rPr lang="en-US" b="0" i="0" dirty="0">
                <a:effectLst/>
                <a:latin typeface="Arimo"/>
              </a:rPr>
              <a:t> Consider the following grammar-</a:t>
            </a:r>
          </a:p>
          <a:p>
            <a:pPr fontAlgn="base">
              <a:lnSpc>
                <a:spcPct val="90000"/>
              </a:lnSpc>
            </a:pPr>
            <a:r>
              <a:rPr lang="en-US" b="0" i="0" dirty="0">
                <a:effectLst/>
                <a:latin typeface="Arimo"/>
              </a:rPr>
              <a:t>E → E + E / E x E / id</a:t>
            </a:r>
          </a:p>
          <a:p>
            <a:pPr fontAlgn="base">
              <a:lnSpc>
                <a:spcPct val="90000"/>
              </a:lnSpc>
            </a:pPr>
            <a:r>
              <a:rPr lang="en-US" b="1" i="0" dirty="0">
                <a:effectLst/>
                <a:latin typeface="Arimo"/>
              </a:rPr>
              <a:t>Ambiguous Grammar</a:t>
            </a:r>
            <a:endParaRPr lang="en-US" b="0" i="0" dirty="0">
              <a:effectLst/>
              <a:latin typeface="Arimo"/>
            </a:endParaRPr>
          </a:p>
          <a:p>
            <a:pPr fontAlgn="base">
              <a:lnSpc>
                <a:spcPct val="90000"/>
              </a:lnSpc>
            </a:pPr>
            <a:r>
              <a:rPr lang="en-US" b="0" i="0" dirty="0">
                <a:effectLst/>
                <a:latin typeface="Arimo"/>
              </a:rPr>
              <a:t> This grammar is an example of ambiguous grammar.</a:t>
            </a:r>
          </a:p>
          <a:p>
            <a:pPr fontAlgn="base">
              <a:lnSpc>
                <a:spcPct val="90000"/>
              </a:lnSpc>
            </a:pPr>
            <a:r>
              <a:rPr lang="en-US" b="0" i="0" dirty="0">
                <a:effectLst/>
                <a:latin typeface="Arimo"/>
              </a:rPr>
              <a:t>Any of the following reasons can be stated to prove the grammar ambiguous-</a:t>
            </a:r>
          </a:p>
          <a:p>
            <a:pPr>
              <a:lnSpc>
                <a:spcPct val="90000"/>
              </a:lnSpc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19724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21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814A8-93AA-42D0-B1C8-F8FA6AAB7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66925"/>
            <a:ext cx="8946541" cy="4191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 b="0" i="0" dirty="0">
                <a:effectLst/>
                <a:latin typeface="Arimo"/>
              </a:rPr>
              <a:t>G=({id,+,*},{E},E,P) where P is</a:t>
            </a:r>
          </a:p>
          <a:p>
            <a:pPr>
              <a:lnSpc>
                <a:spcPct val="90000"/>
              </a:lnSpc>
            </a:pPr>
            <a:r>
              <a:rPr lang="en-US" sz="1900" b="0" i="0" dirty="0">
                <a:effectLst/>
                <a:latin typeface="Arimo"/>
              </a:rPr>
              <a:t>E → E + E </a:t>
            </a:r>
          </a:p>
          <a:p>
            <a:pPr>
              <a:lnSpc>
                <a:spcPct val="90000"/>
              </a:lnSpc>
            </a:pPr>
            <a:r>
              <a:rPr lang="en-US" sz="1900" dirty="0">
                <a:latin typeface="Arimo"/>
              </a:rPr>
              <a:t>E</a:t>
            </a:r>
            <a:r>
              <a:rPr lang="en-US" sz="1900" dirty="0">
                <a:latin typeface="Arimo"/>
                <a:sym typeface="Wingdings" panose="05000000000000000000" pitchFamily="2" charset="2"/>
              </a:rPr>
              <a:t></a:t>
            </a:r>
            <a:r>
              <a:rPr lang="en-US" sz="1900" b="0" i="0" dirty="0">
                <a:effectLst/>
                <a:latin typeface="Arimo"/>
              </a:rPr>
              <a:t> E x E </a:t>
            </a:r>
          </a:p>
          <a:p>
            <a:pPr>
              <a:lnSpc>
                <a:spcPct val="90000"/>
              </a:lnSpc>
            </a:pPr>
            <a:r>
              <a:rPr lang="en-US" sz="1900" dirty="0" err="1">
                <a:latin typeface="Arimo"/>
              </a:rPr>
              <a:t>E</a:t>
            </a:r>
            <a:r>
              <a:rPr lang="en-US" sz="1900" dirty="0" err="1">
                <a:latin typeface="Arimo"/>
                <a:sym typeface="Wingdings" panose="05000000000000000000" pitchFamily="2" charset="2"/>
              </a:rPr>
              <a:t></a:t>
            </a:r>
            <a:r>
              <a:rPr lang="en-US" sz="1900" b="0" i="0" dirty="0" err="1">
                <a:effectLst/>
                <a:latin typeface="Arimo"/>
              </a:rPr>
              <a:t>id</a:t>
            </a:r>
            <a:r>
              <a:rPr lang="en-US" sz="1900" b="0" i="0" dirty="0">
                <a:effectLst/>
                <a:latin typeface="Arimo"/>
              </a:rPr>
              <a:t>/0|1|2|3|…|9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b="0" i="0" dirty="0" err="1">
                <a:effectLst/>
                <a:latin typeface="Arimo"/>
              </a:rPr>
              <a:t>E</a:t>
            </a:r>
            <a:r>
              <a:rPr lang="en-US" sz="1900" b="0" i="0" dirty="0" err="1">
                <a:effectLst/>
                <a:latin typeface="Arimo"/>
                <a:sym typeface="Wingdings" panose="05000000000000000000" pitchFamily="2" charset="2"/>
              </a:rPr>
              <a:t>E+Eid+Eid+id</a:t>
            </a:r>
            <a:endParaRPr lang="en-US" sz="1900" b="0" i="0" dirty="0">
              <a:effectLst/>
              <a:latin typeface="Arimo"/>
              <a:sym typeface="Wingdings" panose="05000000000000000000" pitchFamily="2" charset="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>
                <a:latin typeface="Arimo"/>
                <a:sym typeface="Wingdings" panose="05000000000000000000" pitchFamily="2" charset="2"/>
              </a:rPr>
              <a:t>EE*</a:t>
            </a:r>
            <a:r>
              <a:rPr lang="en-US" sz="1900" dirty="0" err="1">
                <a:latin typeface="Arimo"/>
                <a:sym typeface="Wingdings" panose="05000000000000000000" pitchFamily="2" charset="2"/>
              </a:rPr>
              <a:t>Eid</a:t>
            </a:r>
            <a:r>
              <a:rPr lang="en-US" sz="1900" dirty="0">
                <a:latin typeface="Arimo"/>
                <a:sym typeface="Wingdings" panose="05000000000000000000" pitchFamily="2" charset="2"/>
              </a:rPr>
              <a:t>*</a:t>
            </a:r>
            <a:r>
              <a:rPr lang="en-US" sz="1900" dirty="0" err="1">
                <a:latin typeface="Arimo"/>
                <a:sym typeface="Wingdings" panose="05000000000000000000" pitchFamily="2" charset="2"/>
              </a:rPr>
              <a:t>Eid</a:t>
            </a:r>
            <a:r>
              <a:rPr lang="en-US" sz="1900" dirty="0">
                <a:latin typeface="Arimo"/>
                <a:sym typeface="Wingdings" panose="05000000000000000000" pitchFamily="2" charset="2"/>
              </a:rPr>
              <a:t>*id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b="0" i="0" dirty="0" err="1">
                <a:effectLst/>
                <a:latin typeface="Arimo"/>
                <a:sym typeface="Wingdings" panose="05000000000000000000" pitchFamily="2" charset="2"/>
              </a:rPr>
              <a:t>EE+Eid+Eid+E</a:t>
            </a:r>
            <a:r>
              <a:rPr lang="en-US" sz="1900" b="0" i="0" dirty="0">
                <a:effectLst/>
                <a:latin typeface="Arimo"/>
                <a:sym typeface="Wingdings" panose="05000000000000000000" pitchFamily="2" charset="2"/>
              </a:rPr>
              <a:t>*</a:t>
            </a:r>
            <a:r>
              <a:rPr lang="en-US" sz="1900" b="0" i="0" dirty="0" err="1">
                <a:effectLst/>
                <a:latin typeface="Arimo"/>
                <a:sym typeface="Wingdings" panose="05000000000000000000" pitchFamily="2" charset="2"/>
              </a:rPr>
              <a:t>Eid+id</a:t>
            </a:r>
            <a:r>
              <a:rPr lang="en-US" sz="1900" b="0" i="0" dirty="0">
                <a:effectLst/>
                <a:latin typeface="Arimo"/>
                <a:sym typeface="Wingdings" panose="05000000000000000000" pitchFamily="2" charset="2"/>
              </a:rPr>
              <a:t>*</a:t>
            </a:r>
            <a:r>
              <a:rPr lang="en-US" sz="1900" b="0" i="0" dirty="0" err="1">
                <a:effectLst/>
                <a:latin typeface="Arimo"/>
                <a:sym typeface="Wingdings" panose="05000000000000000000" pitchFamily="2" charset="2"/>
              </a:rPr>
              <a:t>Eid+id</a:t>
            </a:r>
            <a:r>
              <a:rPr lang="en-US" sz="1900" b="0" i="0" dirty="0">
                <a:effectLst/>
                <a:latin typeface="Arimo"/>
                <a:sym typeface="Wingdings" panose="05000000000000000000" pitchFamily="2" charset="2"/>
              </a:rPr>
              <a:t>*id//2+3*4--------20----------------14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>
                <a:latin typeface="Arimo"/>
                <a:sym typeface="Wingdings" panose="05000000000000000000" pitchFamily="2" charset="2"/>
              </a:rPr>
              <a:t>L(G)={</a:t>
            </a:r>
            <a:r>
              <a:rPr lang="en-US" sz="1900" dirty="0" err="1">
                <a:latin typeface="Arimo"/>
                <a:sym typeface="Wingdings" panose="05000000000000000000" pitchFamily="2" charset="2"/>
              </a:rPr>
              <a:t>id,id+id,id</a:t>
            </a:r>
            <a:r>
              <a:rPr lang="en-US" sz="1900" dirty="0">
                <a:latin typeface="Arimo"/>
                <a:sym typeface="Wingdings" panose="05000000000000000000" pitchFamily="2" charset="2"/>
              </a:rPr>
              <a:t>*</a:t>
            </a:r>
            <a:r>
              <a:rPr lang="en-US" sz="1900" dirty="0" err="1">
                <a:latin typeface="Arimo"/>
                <a:sym typeface="Wingdings" panose="05000000000000000000" pitchFamily="2" charset="2"/>
              </a:rPr>
              <a:t>id,id+id</a:t>
            </a:r>
            <a:r>
              <a:rPr lang="en-US" sz="1900" dirty="0">
                <a:latin typeface="Arimo"/>
                <a:sym typeface="Wingdings" panose="05000000000000000000" pitchFamily="2" charset="2"/>
              </a:rPr>
              <a:t>*</a:t>
            </a:r>
            <a:r>
              <a:rPr lang="en-US" sz="1900" dirty="0" err="1">
                <a:latin typeface="Arimo"/>
                <a:sym typeface="Wingdings" panose="05000000000000000000" pitchFamily="2" charset="2"/>
              </a:rPr>
              <a:t>id,id+id+id,id</a:t>
            </a:r>
            <a:r>
              <a:rPr lang="en-US" sz="1900" dirty="0">
                <a:latin typeface="Arimo"/>
                <a:sym typeface="Wingdings" panose="05000000000000000000" pitchFamily="2" charset="2"/>
              </a:rPr>
              <a:t>*id*id,…….}</a:t>
            </a:r>
            <a:endParaRPr lang="en-US" sz="1900" b="0" i="0" dirty="0">
              <a:effectLst/>
              <a:latin typeface="Arimo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/>
              <a:t>Consider string w=</a:t>
            </a:r>
            <a:r>
              <a:rPr lang="en-US" sz="1900" dirty="0" err="1"/>
              <a:t>id+id</a:t>
            </a:r>
            <a:r>
              <a:rPr lang="en-US" sz="1900" dirty="0"/>
              <a:t>*id, try to derive 2 parse tree</a:t>
            </a:r>
          </a:p>
        </p:txBody>
      </p:sp>
    </p:spTree>
    <p:extLst>
      <p:ext uri="{BB962C8B-B14F-4D97-AF65-F5344CB8AC3E}">
        <p14:creationId xmlns:p14="http://schemas.microsoft.com/office/powerpoint/2010/main" val="5174496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13C9C0A-47AD-49A5-838A-A43281BDC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79507746-2C84-4EB6-B021-47E528910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6E95F8-0577-477F-9CE0-13942F0F3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endParaRPr lang="en-US">
              <a:solidFill>
                <a:srgbClr val="EBEBEB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0D28F5-B926-4D9B-9413-91E73A4C6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B3D24C5-CE61-47C8-A0D0-C767528D1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DBED79-C585-41E3-86CA-280C6C0CAD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9437469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1920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B3CEE-E886-4D17-A8AD-FE66FA8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12138"/>
            <a:ext cx="4953000" cy="435993"/>
          </a:xfrm>
        </p:spPr>
        <p:txBody>
          <a:bodyPr>
            <a:normAutofit fontScale="90000"/>
          </a:bodyPr>
          <a:lstStyle/>
          <a:p>
            <a:r>
              <a:rPr lang="en-US" b="1" i="0" u="sng" dirty="0">
                <a:solidFill>
                  <a:srgbClr val="FFFFFF"/>
                </a:solidFill>
                <a:effectLst/>
                <a:latin typeface="Roboto Condensed"/>
              </a:rPr>
              <a:t>Reasons:-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93B18-112B-449B-98E5-5D33A581A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5" y="752475"/>
            <a:ext cx="5915025" cy="5846193"/>
          </a:xfrm>
        </p:spPr>
        <p:txBody>
          <a:bodyPr anchor="ctr">
            <a:normAutofit fontScale="92500" lnSpcReduction="20000"/>
          </a:bodyPr>
          <a:lstStyle/>
          <a:p>
            <a:pPr marL="0" indent="0" fontAlgn="base">
              <a:buNone/>
            </a:pPr>
            <a:r>
              <a:rPr lang="en-US" sz="1800" b="1" i="0" u="sng" dirty="0">
                <a:solidFill>
                  <a:srgbClr val="FFFFFF"/>
                </a:solidFill>
                <a:effectLst/>
                <a:latin typeface="Roboto Condensed"/>
              </a:rPr>
              <a:t>Reason-01:</a:t>
            </a:r>
          </a:p>
          <a:p>
            <a:pPr marL="0" indent="0" fontAlgn="base">
              <a:buNone/>
            </a:pPr>
            <a:r>
              <a:rPr lang="en-US" sz="1800" b="0" i="0" dirty="0">
                <a:solidFill>
                  <a:srgbClr val="FFFFFF"/>
                </a:solidFill>
                <a:effectLst/>
                <a:latin typeface="Arimo"/>
              </a:rPr>
              <a:t>Let us consider a string w generated by the grammar-</a:t>
            </a:r>
          </a:p>
          <a:p>
            <a:pPr marL="0" indent="0" fontAlgn="base">
              <a:buNone/>
            </a:pPr>
            <a:r>
              <a:rPr lang="en-US" sz="1800" b="0" i="0" dirty="0">
                <a:solidFill>
                  <a:srgbClr val="FFFFFF"/>
                </a:solidFill>
                <a:effectLst/>
                <a:latin typeface="Arimo"/>
              </a:rPr>
              <a:t>w = id + id x id</a:t>
            </a:r>
          </a:p>
          <a:p>
            <a:pPr marL="0" indent="0" fontAlgn="base">
              <a:buNone/>
            </a:pPr>
            <a:r>
              <a:rPr lang="en-US" sz="1800" b="0" i="0" dirty="0">
                <a:solidFill>
                  <a:srgbClr val="FFFFFF"/>
                </a:solidFill>
                <a:effectLst/>
                <a:latin typeface="Arimo"/>
              </a:rPr>
              <a:t>Now, let us draw the parse trees for this string w.</a:t>
            </a:r>
          </a:p>
          <a:p>
            <a:pPr marL="0" indent="0" fontAlgn="base">
              <a:buNone/>
            </a:pPr>
            <a:r>
              <a:rPr lang="en-US" sz="1800" b="1" i="1" dirty="0">
                <a:solidFill>
                  <a:srgbClr val="FFFFFF"/>
                </a:solidFill>
                <a:effectLst/>
                <a:latin typeface="Arimo"/>
              </a:rPr>
              <a:t>Since two parse trees exist for string w, therefore the grammar is ambiguous.</a:t>
            </a:r>
          </a:p>
          <a:p>
            <a:pPr marL="0" indent="0" fontAlgn="base">
              <a:buNone/>
            </a:pPr>
            <a:r>
              <a:rPr lang="en-US" sz="1800" b="1" i="0" u="sng" dirty="0">
                <a:solidFill>
                  <a:srgbClr val="FFFFFF"/>
                </a:solidFill>
                <a:effectLst/>
                <a:latin typeface="Roboto Condensed"/>
              </a:rPr>
              <a:t>Reason-02:</a:t>
            </a:r>
            <a:endParaRPr lang="en-US" sz="1800" b="0" i="0" dirty="0">
              <a:solidFill>
                <a:srgbClr val="FFFFFF"/>
              </a:solidFill>
              <a:effectLst/>
              <a:latin typeface="Arimo"/>
            </a:endParaRPr>
          </a:p>
          <a:p>
            <a:pPr marL="0" indent="0" fontAlgn="base">
              <a:buNone/>
            </a:pPr>
            <a:r>
              <a:rPr lang="en-US" sz="1800" b="0" i="0" dirty="0">
                <a:solidFill>
                  <a:srgbClr val="FFFFFF"/>
                </a:solidFill>
                <a:effectLst/>
                <a:latin typeface="Arimo"/>
              </a:rPr>
              <a:t>Let us consider a string w generated by the grammar-</a:t>
            </a:r>
          </a:p>
          <a:p>
            <a:pPr marL="0" indent="0" fontAlgn="base">
              <a:buNone/>
            </a:pPr>
            <a:r>
              <a:rPr lang="en-US" sz="1800" b="0" i="0" dirty="0">
                <a:solidFill>
                  <a:srgbClr val="FFFFFF"/>
                </a:solidFill>
                <a:effectLst/>
                <a:latin typeface="Arimo"/>
              </a:rPr>
              <a:t>w = id + id x id</a:t>
            </a:r>
          </a:p>
          <a:p>
            <a:pPr marL="0" indent="0" fontAlgn="base">
              <a:buNone/>
            </a:pPr>
            <a:r>
              <a:rPr lang="en-US" sz="1800" b="0" i="0" dirty="0">
                <a:solidFill>
                  <a:srgbClr val="FFFFFF"/>
                </a:solidFill>
                <a:effectLst/>
                <a:latin typeface="Arimo"/>
              </a:rPr>
              <a:t>Now, let us draw the syntax trees for this string w.</a:t>
            </a:r>
          </a:p>
          <a:p>
            <a:pPr marL="0" indent="0" fontAlgn="base">
              <a:buNone/>
            </a:pPr>
            <a:r>
              <a:rPr lang="en-US" sz="1800" b="1" i="1" dirty="0">
                <a:solidFill>
                  <a:srgbClr val="FFFFFF"/>
                </a:solidFill>
                <a:effectLst/>
                <a:latin typeface="Arimo"/>
              </a:rPr>
              <a:t>Since two syntax trees exist for string w, therefore the grammar is ambiguous.</a:t>
            </a:r>
          </a:p>
          <a:p>
            <a:pPr marL="0" indent="0" fontAlgn="base">
              <a:buNone/>
            </a:pPr>
            <a:r>
              <a:rPr lang="en-US" sz="1800" b="1" i="0" u="sng" dirty="0">
                <a:solidFill>
                  <a:srgbClr val="FFFFFF"/>
                </a:solidFill>
                <a:effectLst/>
                <a:latin typeface="Roboto Condensed"/>
              </a:rPr>
              <a:t>Reason-02:</a:t>
            </a:r>
            <a:endParaRPr lang="en-US" sz="1800" b="0" i="0" dirty="0">
              <a:solidFill>
                <a:srgbClr val="FFFFFF"/>
              </a:solidFill>
              <a:effectLst/>
              <a:latin typeface="Arimo"/>
            </a:endParaRPr>
          </a:p>
          <a:p>
            <a:pPr marL="0" indent="0" fontAlgn="base">
              <a:buNone/>
            </a:pPr>
            <a:r>
              <a:rPr lang="en-US" sz="2000" b="0" i="0" dirty="0">
                <a:solidFill>
                  <a:srgbClr val="FFFFFF"/>
                </a:solidFill>
                <a:effectLst/>
                <a:latin typeface="Arimo"/>
              </a:rPr>
              <a:t>Let us consider a string w generated by the grammar-</a:t>
            </a:r>
          </a:p>
          <a:p>
            <a:pPr marL="0" indent="0" fontAlgn="base">
              <a:buNone/>
            </a:pPr>
            <a:r>
              <a:rPr lang="en-US" sz="2000" b="0" i="0" dirty="0">
                <a:solidFill>
                  <a:srgbClr val="FFFFFF"/>
                </a:solidFill>
                <a:effectLst/>
                <a:latin typeface="Arimo"/>
              </a:rPr>
              <a:t>w = id + id x id</a:t>
            </a:r>
          </a:p>
          <a:p>
            <a:pPr marL="0" indent="0" fontAlgn="base">
              <a:buNone/>
            </a:pPr>
            <a:r>
              <a:rPr lang="en-US" sz="2000" b="0" i="0" dirty="0">
                <a:solidFill>
                  <a:srgbClr val="FFFFFF"/>
                </a:solidFill>
                <a:effectLst/>
                <a:latin typeface="Arimo"/>
              </a:rPr>
              <a:t>Now, let us write the leftmost derivations for this string w.</a:t>
            </a:r>
          </a:p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</a:rPr>
              <a:t>Since two leftmost derivations exist for string w, therefore the grammar is ambiguous.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CCF8766-044F-455B-B7A0-A754925E7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69274" y="100456"/>
            <a:ext cx="5085845" cy="2017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D089E40-5CC2-410D-873B-DBB079A01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9274" y="2414199"/>
            <a:ext cx="5085846" cy="2017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521C832-98A2-447C-BADC-69A6E4501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9565" y="4481173"/>
            <a:ext cx="5240176" cy="2226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2094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EB2BF-DF1B-4B0C-A449-41402A885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336136"/>
            <a:ext cx="5734051" cy="5645564"/>
          </a:xfrm>
        </p:spPr>
        <p:txBody>
          <a:bodyPr anchor="ctr">
            <a:normAutofit/>
          </a:bodyPr>
          <a:lstStyle/>
          <a:p>
            <a:pPr fontAlgn="base"/>
            <a:r>
              <a:rPr lang="en-US" sz="1800" b="1" i="0" u="sng" dirty="0">
                <a:solidFill>
                  <a:srgbClr val="FFFFFF"/>
                </a:solidFill>
                <a:effectLst/>
                <a:latin typeface="Roboto Condensed"/>
              </a:rPr>
              <a:t>Reason-04:</a:t>
            </a:r>
            <a:endParaRPr lang="en-US" sz="1800" b="1" i="0" dirty="0">
              <a:solidFill>
                <a:srgbClr val="FFFFFF"/>
              </a:solidFill>
              <a:effectLst/>
              <a:latin typeface="Roboto Condensed"/>
            </a:endParaRPr>
          </a:p>
          <a:p>
            <a:pPr fontAlgn="base"/>
            <a:r>
              <a:rPr lang="en-US" sz="1800" b="0" i="0" dirty="0">
                <a:solidFill>
                  <a:srgbClr val="FFFFFF"/>
                </a:solidFill>
                <a:effectLst/>
                <a:latin typeface="Arimo"/>
              </a:rPr>
              <a:t> Let us consider a string w generated by the grammar-</a:t>
            </a:r>
          </a:p>
          <a:p>
            <a:pPr fontAlgn="base"/>
            <a:r>
              <a:rPr lang="en-US" sz="1800" b="0" i="0" dirty="0">
                <a:solidFill>
                  <a:srgbClr val="FFFFFF"/>
                </a:solidFill>
                <a:effectLst/>
                <a:latin typeface="Arimo"/>
              </a:rPr>
              <a:t>w = id + id x id</a:t>
            </a:r>
          </a:p>
          <a:p>
            <a:pPr fontAlgn="base"/>
            <a:r>
              <a:rPr lang="en-US" sz="1800" b="0" i="0" dirty="0">
                <a:solidFill>
                  <a:srgbClr val="FFFFFF"/>
                </a:solidFill>
                <a:effectLst/>
                <a:latin typeface="Arimo"/>
              </a:rPr>
              <a:t>Now, let us write the rightmost derivations for this string w.</a:t>
            </a:r>
          </a:p>
          <a:p>
            <a:r>
              <a:rPr lang="en-US" sz="1800" b="1" i="1" dirty="0">
                <a:solidFill>
                  <a:srgbClr val="FFFFFF"/>
                </a:solidFill>
              </a:rPr>
              <a:t>Since two rightmost derivations exist for string w, therefore the grammar is ambiguous.</a:t>
            </a:r>
          </a:p>
          <a:p>
            <a:endParaRPr lang="en-US" sz="1800" b="1" i="1" dirty="0">
              <a:solidFill>
                <a:srgbClr val="FFFFFF"/>
              </a:solidFill>
            </a:endParaRPr>
          </a:p>
          <a:p>
            <a:r>
              <a:rPr lang="en-US" sz="1800" b="1" i="1" dirty="0">
                <a:solidFill>
                  <a:srgbClr val="FFFFFF"/>
                </a:solidFill>
              </a:rPr>
              <a:t>E</a:t>
            </a:r>
            <a:r>
              <a:rPr lang="en-US" sz="1800" b="1" i="1" dirty="0">
                <a:solidFill>
                  <a:srgbClr val="FFFFFF"/>
                </a:solidFill>
                <a:sym typeface="Wingdings" panose="05000000000000000000" pitchFamily="2" charset="2"/>
              </a:rPr>
              <a:t>E+T \ T</a:t>
            </a:r>
          </a:p>
          <a:p>
            <a:r>
              <a:rPr lang="en-US" sz="1800" b="1" i="1" dirty="0">
                <a:solidFill>
                  <a:srgbClr val="FFFFFF"/>
                </a:solidFill>
                <a:sym typeface="Wingdings" panose="05000000000000000000" pitchFamily="2" charset="2"/>
              </a:rPr>
              <a:t>TT*F \ F</a:t>
            </a:r>
          </a:p>
          <a:p>
            <a:r>
              <a:rPr lang="en-US" sz="1800" b="1" i="1" dirty="0" err="1">
                <a:solidFill>
                  <a:srgbClr val="FFFFFF"/>
                </a:solidFill>
                <a:sym typeface="Wingdings" panose="05000000000000000000" pitchFamily="2" charset="2"/>
              </a:rPr>
              <a:t>Fid</a:t>
            </a:r>
            <a:endParaRPr lang="en-US" sz="1800" b="1" i="1" dirty="0">
              <a:solidFill>
                <a:srgbClr val="FFFFFF"/>
              </a:solidFill>
              <a:sym typeface="Wingdings" panose="05000000000000000000" pitchFamily="2" charset="2"/>
            </a:endParaRPr>
          </a:p>
          <a:p>
            <a:r>
              <a:rPr lang="en-US" sz="1800" b="1" i="1" dirty="0">
                <a:solidFill>
                  <a:srgbClr val="FFFFFF"/>
                </a:solidFill>
              </a:rPr>
              <a:t>E</a:t>
            </a:r>
            <a:r>
              <a:rPr lang="en-US" sz="1800" b="1" i="1" dirty="0">
                <a:solidFill>
                  <a:srgbClr val="FFFFFF"/>
                </a:solidFill>
                <a:sym typeface="Wingdings" panose="05000000000000000000" pitchFamily="2" charset="2"/>
              </a:rPr>
              <a:t>E+TE+T+T</a:t>
            </a:r>
          </a:p>
          <a:p>
            <a:r>
              <a:rPr lang="en-US" sz="1800" b="1" i="1" dirty="0">
                <a:solidFill>
                  <a:srgbClr val="FFFFFF"/>
                </a:solidFill>
                <a:sym typeface="Wingdings" panose="05000000000000000000" pitchFamily="2" charset="2"/>
              </a:rPr>
              <a:t>E+TT+T</a:t>
            </a:r>
          </a:p>
          <a:p>
            <a:endParaRPr lang="en-US" sz="1800" b="1" i="1" dirty="0">
              <a:solidFill>
                <a:srgbClr val="FFFFFF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E2D76EA-3FCC-46E4-8819-02BFF2AC1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54640" y="947114"/>
            <a:ext cx="4724400" cy="271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416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A7BE85-9A97-40B1-B9C4-7A590E74E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 b="1" i="0" u="sng">
                <a:solidFill>
                  <a:srgbClr val="FFFFFF"/>
                </a:solidFill>
                <a:effectLst/>
                <a:latin typeface="Roboto Condensed"/>
              </a:rPr>
              <a:t>Problem-01: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87B16-61B8-400A-AF1D-3179AD008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pPr fontAlgn="base"/>
            <a:r>
              <a:rPr lang="en-US" b="0" i="0" dirty="0">
                <a:effectLst/>
                <a:latin typeface="Arimo"/>
              </a:rPr>
              <a:t> Check whether the given grammar is ambiguous or not-</a:t>
            </a:r>
          </a:p>
          <a:p>
            <a:pPr marL="0" indent="0" fontAlgn="base">
              <a:buNone/>
            </a:pPr>
            <a:r>
              <a:rPr lang="en-US" b="0" i="0" dirty="0">
                <a:effectLst/>
                <a:latin typeface="Arimo"/>
              </a:rPr>
              <a:t>	S → SS</a:t>
            </a:r>
          </a:p>
          <a:p>
            <a:pPr marL="0" indent="0" fontAlgn="base">
              <a:buNone/>
            </a:pPr>
            <a:r>
              <a:rPr lang="en-US" b="0" i="0" dirty="0">
                <a:effectLst/>
                <a:latin typeface="Arimo"/>
              </a:rPr>
              <a:t>	S → a</a:t>
            </a:r>
          </a:p>
          <a:p>
            <a:pPr marL="0" indent="0" fontAlgn="base">
              <a:buNone/>
            </a:pPr>
            <a:r>
              <a:rPr lang="en-US" b="0" i="0" dirty="0">
                <a:effectLst/>
                <a:latin typeface="Arimo"/>
              </a:rPr>
              <a:t>	S → b</a:t>
            </a:r>
          </a:p>
          <a:p>
            <a:pPr marL="0" indent="0" fontAlgn="base">
              <a:buNone/>
            </a:pPr>
            <a:r>
              <a:rPr lang="en-US" b="0" i="0" dirty="0">
                <a:effectLst/>
                <a:latin typeface="Arimo"/>
              </a:rPr>
              <a:t>L(G)={ab, </a:t>
            </a:r>
            <a:r>
              <a:rPr lang="en-US" b="0" i="0" dirty="0" err="1">
                <a:effectLst/>
                <a:latin typeface="Arimo"/>
              </a:rPr>
              <a:t>ba,aa</a:t>
            </a:r>
            <a:r>
              <a:rPr lang="en-US" dirty="0" err="1">
                <a:latin typeface="Arimo"/>
              </a:rPr>
              <a:t>,</a:t>
            </a:r>
            <a:r>
              <a:rPr lang="en-US" b="0" i="0" dirty="0" err="1">
                <a:effectLst/>
                <a:latin typeface="Arimo"/>
              </a:rPr>
              <a:t>bb,bab,</a:t>
            </a:r>
            <a:r>
              <a:rPr lang="en-US" b="1" i="0" dirty="0" err="1">
                <a:effectLst/>
                <a:latin typeface="Arimo"/>
              </a:rPr>
              <a:t>abba</a:t>
            </a:r>
            <a:r>
              <a:rPr lang="en-US" b="0" i="0" dirty="0" err="1">
                <a:effectLst/>
                <a:latin typeface="Arimo"/>
              </a:rPr>
              <a:t>,aba</a:t>
            </a:r>
            <a:r>
              <a:rPr lang="en-US" b="0" i="0" dirty="0">
                <a:effectLst/>
                <a:latin typeface="Arimo"/>
              </a:rPr>
              <a:t>,…..}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6897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20859-50AB-425B-8F42-EAFB19024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1"/>
            <a:ext cx="10895106" cy="662940"/>
          </a:xfrm>
        </p:spPr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4B3B39-4EA1-42FE-A4EB-C6A2CC025A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52891"/>
            <a:ext cx="6372225" cy="340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352DE0-94FE-4293-8072-1CACC459E5F2}"/>
              </a:ext>
            </a:extLst>
          </p:cNvPr>
          <p:cNvSpPr txBox="1"/>
          <p:nvPr/>
        </p:nvSpPr>
        <p:spPr>
          <a:xfrm>
            <a:off x="762000" y="1237228"/>
            <a:ext cx="77343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000" b="0" i="0" dirty="0">
                <a:effectLst/>
                <a:latin typeface="Arimo"/>
              </a:rPr>
              <a:t>Let us consider a string w generated by the given grammar-</a:t>
            </a:r>
          </a:p>
          <a:p>
            <a:pPr lvl="1" fontAlgn="base"/>
            <a:r>
              <a:rPr lang="en-US" sz="2000" b="0" i="0" dirty="0">
                <a:effectLst/>
                <a:latin typeface="Arimo"/>
              </a:rPr>
              <a:t>w = abba</a:t>
            </a:r>
          </a:p>
          <a:p>
            <a:pPr algn="l" fontAlgn="base"/>
            <a:r>
              <a:rPr lang="en-US" sz="2000" b="0" i="0" dirty="0">
                <a:effectLst/>
                <a:latin typeface="Arimo"/>
              </a:rPr>
              <a:t>Now, let us draw parse trees for this string w.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B1CC3B-9B31-4DCE-B52A-2CC9F3563605}"/>
              </a:ext>
            </a:extLst>
          </p:cNvPr>
          <p:cNvSpPr txBox="1"/>
          <p:nvPr/>
        </p:nvSpPr>
        <p:spPr>
          <a:xfrm>
            <a:off x="676274" y="5845908"/>
            <a:ext cx="10582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Arimo"/>
              </a:rPr>
              <a:t>Since two different parse trees exist for string w, therefore the given grammar is ambiguous.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760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A71DBF-D92E-4B42-AD67-17AB95BBA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 b="1" i="0" u="sng">
                <a:solidFill>
                  <a:srgbClr val="FFFFFF"/>
                </a:solidFill>
                <a:effectLst/>
                <a:latin typeface="Roboto Condensed"/>
              </a:rPr>
              <a:t>Problem-02: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38117-E925-4E30-BA94-E7C116467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641762"/>
          </a:xfrm>
        </p:spPr>
        <p:txBody>
          <a:bodyPr>
            <a:normAutofit/>
          </a:bodyPr>
          <a:lstStyle/>
          <a:p>
            <a:pPr fontAlgn="base"/>
            <a:r>
              <a:rPr lang="en-US" b="0" i="0" dirty="0">
                <a:effectLst/>
                <a:latin typeface="Arimo"/>
              </a:rPr>
              <a:t> Check whether the given grammar is ambiguous or not-</a:t>
            </a:r>
          </a:p>
          <a:p>
            <a:pPr marL="0" indent="0" fontAlgn="base">
              <a:buNone/>
            </a:pPr>
            <a:r>
              <a:rPr lang="en-US" b="0" i="0" dirty="0">
                <a:effectLst/>
                <a:latin typeface="Arimo"/>
              </a:rPr>
              <a:t>S → A / B</a:t>
            </a:r>
          </a:p>
          <a:p>
            <a:pPr marL="0" indent="0" fontAlgn="base">
              <a:buNone/>
            </a:pPr>
            <a:r>
              <a:rPr lang="en-US" b="0" i="0" dirty="0">
                <a:effectLst/>
                <a:latin typeface="Arimo"/>
              </a:rPr>
              <a:t>A → </a:t>
            </a:r>
            <a:r>
              <a:rPr lang="en-US" b="0" i="0" dirty="0" err="1">
                <a:effectLst/>
                <a:latin typeface="Arimo"/>
              </a:rPr>
              <a:t>aAb</a:t>
            </a:r>
            <a:r>
              <a:rPr lang="en-US" b="0" i="0" dirty="0">
                <a:effectLst/>
                <a:latin typeface="Arimo"/>
              </a:rPr>
              <a:t> / ab</a:t>
            </a:r>
          </a:p>
          <a:p>
            <a:pPr marL="0" indent="0" fontAlgn="base">
              <a:buNone/>
            </a:pPr>
            <a:r>
              <a:rPr lang="en-US" b="0" i="0" dirty="0">
                <a:effectLst/>
                <a:latin typeface="Arimo"/>
              </a:rPr>
              <a:t>B → </a:t>
            </a:r>
            <a:r>
              <a:rPr lang="en-US" b="0" i="0" dirty="0" err="1">
                <a:effectLst/>
                <a:latin typeface="Arimo"/>
              </a:rPr>
              <a:t>abB</a:t>
            </a:r>
            <a:r>
              <a:rPr lang="en-US" b="0" i="0" dirty="0">
                <a:effectLst/>
                <a:latin typeface="Arimo"/>
              </a:rPr>
              <a:t> / ∈</a:t>
            </a:r>
          </a:p>
          <a:p>
            <a:pPr marL="0" indent="0" fontAlgn="base">
              <a:buNone/>
            </a:pPr>
            <a:r>
              <a:rPr lang="en-US" dirty="0">
                <a:latin typeface="Arimo"/>
              </a:rPr>
              <a:t>Option 1</a:t>
            </a:r>
          </a:p>
          <a:p>
            <a:pPr marL="0" indent="0" fontAlgn="base">
              <a:buNone/>
            </a:pPr>
            <a:r>
              <a:rPr lang="en-US" dirty="0">
                <a:latin typeface="Arimo"/>
              </a:rPr>
              <a:t>S</a:t>
            </a:r>
            <a:r>
              <a:rPr lang="en-US" dirty="0">
                <a:latin typeface="Arimo"/>
                <a:sym typeface="Wingdings" panose="05000000000000000000" pitchFamily="2" charset="2"/>
              </a:rPr>
              <a:t>A----</a:t>
            </a:r>
            <a:r>
              <a:rPr lang="en-US" dirty="0" err="1">
                <a:latin typeface="Arimo"/>
                <a:sym typeface="Wingdings" panose="05000000000000000000" pitchFamily="2" charset="2"/>
              </a:rPr>
              <a:t>Sab</a:t>
            </a:r>
            <a:endParaRPr lang="en-US" dirty="0">
              <a:latin typeface="Arimo"/>
              <a:sym typeface="Wingdings" panose="05000000000000000000" pitchFamily="2" charset="2"/>
            </a:endParaRPr>
          </a:p>
          <a:p>
            <a:pPr marL="0" indent="0" fontAlgn="base">
              <a:buNone/>
            </a:pPr>
            <a:r>
              <a:rPr lang="en-US" dirty="0">
                <a:latin typeface="Arimo"/>
                <a:sym typeface="Wingdings" panose="05000000000000000000" pitchFamily="2" charset="2"/>
              </a:rPr>
              <a:t>Option 2</a:t>
            </a:r>
          </a:p>
          <a:p>
            <a:pPr marL="0" indent="0" fontAlgn="base">
              <a:buNone/>
            </a:pPr>
            <a:r>
              <a:rPr lang="en-US" dirty="0">
                <a:latin typeface="Arimo"/>
              </a:rPr>
              <a:t>S</a:t>
            </a:r>
            <a:r>
              <a:rPr lang="en-US" dirty="0">
                <a:latin typeface="Arimo"/>
                <a:sym typeface="Wingdings" panose="05000000000000000000" pitchFamily="2" charset="2"/>
              </a:rPr>
              <a:t>B-----</a:t>
            </a:r>
            <a:r>
              <a:rPr lang="en-US" dirty="0" err="1">
                <a:latin typeface="Arimo"/>
                <a:sym typeface="Wingdings" panose="05000000000000000000" pitchFamily="2" charset="2"/>
              </a:rPr>
              <a:t>SabB</a:t>
            </a:r>
            <a:r>
              <a:rPr lang="en-US" dirty="0">
                <a:latin typeface="Arimo"/>
                <a:sym typeface="Wingdings" panose="05000000000000000000" pitchFamily="2" charset="2"/>
              </a:rPr>
              <a:t>-----</a:t>
            </a:r>
            <a:r>
              <a:rPr lang="en-US" dirty="0" err="1">
                <a:latin typeface="Arimo"/>
                <a:sym typeface="Wingdings" panose="05000000000000000000" pitchFamily="2" charset="2"/>
              </a:rPr>
              <a:t>sab</a:t>
            </a:r>
            <a:endParaRPr lang="en-US" dirty="0">
              <a:latin typeface="Arimo"/>
            </a:endParaRPr>
          </a:p>
          <a:p>
            <a:pPr marL="0" indent="0" fontAlgn="base">
              <a:buNone/>
            </a:pPr>
            <a:endParaRPr lang="en-US" b="0" i="0" dirty="0">
              <a:effectLst/>
              <a:latin typeface="Arimo"/>
            </a:endParaRPr>
          </a:p>
          <a:p>
            <a:pPr marL="0" indent="0" fontAlgn="base">
              <a:buNone/>
            </a:pPr>
            <a:endParaRPr lang="en-US" b="0" i="0" dirty="0">
              <a:effectLst/>
              <a:latin typeface="Arimo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585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7700D-1B35-4410-90BF-52763C318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992"/>
            <a:ext cx="4953000" cy="2308608"/>
          </a:xfrm>
        </p:spPr>
        <p:txBody>
          <a:bodyPr>
            <a:normAutofit/>
          </a:bodyPr>
          <a:lstStyle/>
          <a:p>
            <a:r>
              <a:rPr lang="en-US" b="1" i="0" u="sng">
                <a:solidFill>
                  <a:srgbClr val="FFFFFF"/>
                </a:solidFill>
                <a:effectLst/>
                <a:latin typeface="Roboto Condensed"/>
              </a:rPr>
              <a:t>Solution-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435F6-D35E-49A0-8F70-4482CFFCE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377" y="2371484"/>
            <a:ext cx="5940973" cy="3460964"/>
          </a:xfrm>
        </p:spPr>
        <p:txBody>
          <a:bodyPr anchor="ctr">
            <a:normAutofit/>
          </a:bodyPr>
          <a:lstStyle/>
          <a:p>
            <a:pPr marL="0" indent="0" fontAlgn="base">
              <a:buNone/>
            </a:pPr>
            <a:r>
              <a:rPr lang="en-US" sz="1800" b="0" i="0" dirty="0">
                <a:solidFill>
                  <a:srgbClr val="FFFFFF"/>
                </a:solidFill>
                <a:effectLst/>
                <a:latin typeface="Arimo"/>
              </a:rPr>
              <a:t>Let us consider a string w generated by the given grammar-</a:t>
            </a:r>
          </a:p>
          <a:p>
            <a:pPr marL="0" indent="0" fontAlgn="base">
              <a:buNone/>
            </a:pPr>
            <a:r>
              <a:rPr lang="en-US" sz="1800" b="0" i="0" dirty="0">
                <a:solidFill>
                  <a:srgbClr val="FFFFFF"/>
                </a:solidFill>
                <a:effectLst/>
                <a:latin typeface="Arimo"/>
              </a:rPr>
              <a:t>w = ab</a:t>
            </a:r>
          </a:p>
          <a:p>
            <a:pPr marL="0" indent="0" fontAlgn="base">
              <a:buNone/>
            </a:pPr>
            <a:r>
              <a:rPr lang="en-US" sz="1800" b="0" i="0" dirty="0">
                <a:solidFill>
                  <a:srgbClr val="FFFFFF"/>
                </a:solidFill>
                <a:effectLst/>
                <a:latin typeface="Arimo"/>
              </a:rPr>
              <a:t>Now, let us draw parse trees for this string w.</a:t>
            </a:r>
          </a:p>
          <a:p>
            <a:pPr marL="0" indent="0" fontAlgn="base">
              <a:buNone/>
            </a:pPr>
            <a:r>
              <a:rPr lang="en-US" sz="1800" b="0" i="0" dirty="0">
                <a:solidFill>
                  <a:srgbClr val="FFFFFF"/>
                </a:solidFill>
                <a:effectLst/>
                <a:latin typeface="Arimo"/>
              </a:rPr>
              <a:t>Since two different parse trees exist for string w, therefore the given grammar is ambiguous.</a:t>
            </a:r>
          </a:p>
          <a:p>
            <a:endParaRPr lang="en-US" sz="1800" dirty="0">
              <a:solidFill>
                <a:srgbClr val="FFFFFF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8C050F0-1A3F-464D-A1AF-54824F5A9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58001" y="1842438"/>
            <a:ext cx="4724400" cy="316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864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934C0-D473-473D-B0E3-8742F682D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23632"/>
          </a:xfrm>
        </p:spPr>
        <p:txBody>
          <a:bodyPr/>
          <a:lstStyle/>
          <a:p>
            <a:r>
              <a:rPr lang="en-US" dirty="0"/>
              <a:t>Why need to remove ambiguity?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A45D4-F6A8-4EFD-85B8-28A16D23B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956" y="1169333"/>
            <a:ext cx="9487878" cy="546006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Let us now consider the following grammar: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From the above grammar String 3*2+5 can be derived in 2 ways: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Hence need to remove ambiguity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55E819-0343-4BAA-828A-0605878D6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397" y="1518241"/>
            <a:ext cx="8820150" cy="1910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Set of alphabets ∑ = {0,…,9, +, *, (, )}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 -&gt; 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 -&gt; E + 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 -&gt; E * 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 -&gt; (E)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 -&gt;| 0 | 1 | … | 9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788276-3BCC-4943-9456-BE215674522D}"/>
              </a:ext>
            </a:extLst>
          </p:cNvPr>
          <p:cNvSpPr txBox="1"/>
          <p:nvPr/>
        </p:nvSpPr>
        <p:spPr>
          <a:xfrm>
            <a:off x="938397" y="4011628"/>
            <a:ext cx="1125360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I) First leftmost derivation                   II) Second leftmost derivation   III) derivation</a:t>
            </a:r>
          </a:p>
          <a:p>
            <a:r>
              <a:rPr lang="it-IT" dirty="0"/>
              <a:t>        E=&gt;E*E                         		      E=&gt;E+E						E</a:t>
            </a:r>
            <a:r>
              <a:rPr lang="it-IT" dirty="0">
                <a:sym typeface="Wingdings" panose="05000000000000000000" pitchFamily="2" charset="2"/>
              </a:rPr>
              <a:t>E*E</a:t>
            </a:r>
            <a:endParaRPr lang="it-IT" dirty="0"/>
          </a:p>
          <a:p>
            <a:r>
              <a:rPr lang="it-IT" dirty="0"/>
              <a:t>         =&gt;I*E                          			 =&gt;E*E+E					   </a:t>
            </a:r>
            <a:r>
              <a:rPr lang="it-IT" dirty="0">
                <a:sym typeface="Wingdings" panose="05000000000000000000" pitchFamily="2" charset="2"/>
              </a:rPr>
              <a:t>E*E+E</a:t>
            </a:r>
            <a:endParaRPr lang="it-IT" dirty="0"/>
          </a:p>
          <a:p>
            <a:r>
              <a:rPr lang="it-IT" dirty="0"/>
              <a:t>         =&gt;3*E+E                                       	 =&gt;I*E+E						    </a:t>
            </a:r>
            <a:r>
              <a:rPr lang="it-IT" dirty="0">
                <a:sym typeface="Wingdings" panose="05000000000000000000" pitchFamily="2" charset="2"/>
              </a:rPr>
              <a:t>E*E+5</a:t>
            </a:r>
            <a:endParaRPr lang="it-IT" dirty="0"/>
          </a:p>
          <a:p>
            <a:r>
              <a:rPr lang="it-IT" dirty="0"/>
              <a:t>         =&gt;3*I+E                           			 =&gt;3*E+E					    </a:t>
            </a:r>
            <a:r>
              <a:rPr lang="it-IT" dirty="0">
                <a:sym typeface="Wingdings" panose="05000000000000000000" pitchFamily="2" charset="2"/>
              </a:rPr>
              <a:t>E*2+5</a:t>
            </a:r>
            <a:endParaRPr lang="it-IT" dirty="0"/>
          </a:p>
          <a:p>
            <a:r>
              <a:rPr lang="it-IT" dirty="0"/>
              <a:t>         =&gt;3*2+E                                           =&gt;3*I+E						    </a:t>
            </a:r>
            <a:r>
              <a:rPr lang="it-IT" dirty="0">
                <a:sym typeface="Wingdings" panose="05000000000000000000" pitchFamily="2" charset="2"/>
              </a:rPr>
              <a:t>E*7</a:t>
            </a:r>
            <a:endParaRPr lang="it-IT" dirty="0"/>
          </a:p>
          <a:p>
            <a:r>
              <a:rPr lang="it-IT" dirty="0"/>
              <a:t>         =&gt;3*2+I                                            =&gt;3*2+I						    </a:t>
            </a:r>
            <a:r>
              <a:rPr lang="it-IT" dirty="0">
                <a:sym typeface="Wingdings" panose="05000000000000000000" pitchFamily="2" charset="2"/>
              </a:rPr>
              <a:t>3*7</a:t>
            </a:r>
            <a:endParaRPr lang="it-IT" dirty="0"/>
          </a:p>
          <a:p>
            <a:r>
              <a:rPr lang="it-IT" dirty="0"/>
              <a:t>         =&gt;3*2+5 =&gt;11                                  =&gt;3*2+5 =&gt; 11				     </a:t>
            </a:r>
            <a:r>
              <a:rPr lang="it-IT" dirty="0">
                <a:sym typeface="Wingdings" panose="05000000000000000000" pitchFamily="2" charset="2"/>
              </a:rPr>
              <a:t></a:t>
            </a:r>
            <a:r>
              <a:rPr lang="it-IT" dirty="0"/>
              <a:t>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823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A2833-559B-44D6-9849-CEC9608F2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4582"/>
          </a:xfrm>
        </p:spPr>
        <p:txBody>
          <a:bodyPr/>
          <a:lstStyle/>
          <a:p>
            <a:r>
              <a:rPr lang="en-US" dirty="0"/>
              <a:t>Removal of Ambiguity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B21BB-32D8-4A0C-834D-7CDCFA23F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05218"/>
            <a:ext cx="8946541" cy="4195481"/>
          </a:xfrm>
        </p:spPr>
        <p:txBody>
          <a:bodyPr/>
          <a:lstStyle/>
          <a:p>
            <a:r>
              <a:rPr lang="en-US" dirty="0"/>
              <a:t>A grammar is said to unambiguous if for every string generated by it, it produces exactly one-</a:t>
            </a:r>
          </a:p>
          <a:p>
            <a:r>
              <a:rPr lang="en-US" dirty="0"/>
              <a:t>Parse tree</a:t>
            </a:r>
          </a:p>
          <a:p>
            <a:r>
              <a:rPr lang="en-US" dirty="0"/>
              <a:t>Or derivation tree</a:t>
            </a:r>
          </a:p>
          <a:p>
            <a:r>
              <a:rPr lang="en-US" dirty="0"/>
              <a:t>Or syntax tree</a:t>
            </a:r>
          </a:p>
          <a:p>
            <a:r>
              <a:rPr lang="en-US" dirty="0"/>
              <a:t>Or leftmost derivation</a:t>
            </a:r>
          </a:p>
          <a:p>
            <a:r>
              <a:rPr lang="en-US" dirty="0"/>
              <a:t>Or rightmost derivation</a:t>
            </a:r>
          </a:p>
        </p:txBody>
      </p:sp>
    </p:spTree>
    <p:extLst>
      <p:ext uri="{BB962C8B-B14F-4D97-AF65-F5344CB8AC3E}">
        <p14:creationId xmlns:p14="http://schemas.microsoft.com/office/powerpoint/2010/main" val="3713566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 7">
            <a:extLst>
              <a:ext uri="{FF2B5EF4-FFF2-40B4-BE49-F238E27FC236}">
                <a16:creationId xmlns:a16="http://schemas.microsoft.com/office/drawing/2014/main" id="{0A01F2A2-AEDD-47DC-AFB5-B97CEB9A5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B52ED6-6394-48DE-A46F-4C4F11BBC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/>
              <a:t>Methods To Remove Ambiguity-</a:t>
            </a:r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B5AF5F3-AD0A-4EFA-854A-47C780F26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924298"/>
            <a:ext cx="12192417" cy="29337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 5">
            <a:extLst>
              <a:ext uri="{FF2B5EF4-FFF2-40B4-BE49-F238E27FC236}">
                <a16:creationId xmlns:a16="http://schemas.microsoft.com/office/drawing/2014/main" id="{1E3D6D6C-E192-4135-B1DB-17C71EEBC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1695" cy="2802467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3EC73-2775-4364-8D9B-5C7978041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457" y="2199853"/>
            <a:ext cx="5122606" cy="365868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The ambiguity from the grammar may be removed using the following methods-</a:t>
            </a:r>
          </a:p>
        </p:txBody>
      </p:sp>
      <p:pic>
        <p:nvPicPr>
          <p:cNvPr id="1026" name="Picture 2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F5E2E518-D28A-4FA5-A7DC-6F0ED78CB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1916" y="2900038"/>
            <a:ext cx="5451627" cy="2958504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2DDAB04-BB15-43E4-9EDD-179AA45A1546}"/>
              </a:ext>
            </a:extLst>
          </p:cNvPr>
          <p:cNvSpPr txBox="1"/>
          <p:nvPr/>
        </p:nvSpPr>
        <p:spPr>
          <a:xfrm>
            <a:off x="876300" y="3726782"/>
            <a:ext cx="501015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+mj-lt"/>
              </a:rPr>
              <a:t>By fixing the grammar</a:t>
            </a:r>
          </a:p>
          <a:p>
            <a:pPr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+mj-lt"/>
              </a:rPr>
              <a:t>By adding grouping rules</a:t>
            </a:r>
          </a:p>
          <a:p>
            <a:pPr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+mj-lt"/>
              </a:rPr>
              <a:t>By using semantics and choosing the parse that makes the most sense</a:t>
            </a:r>
          </a:p>
          <a:p>
            <a:pPr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+mj-lt"/>
              </a:rPr>
              <a:t>By adding the precedence rules or other context sensitive parsing rules</a:t>
            </a:r>
          </a:p>
        </p:txBody>
      </p:sp>
    </p:spTree>
    <p:extLst>
      <p:ext uri="{BB962C8B-B14F-4D97-AF65-F5344CB8AC3E}">
        <p14:creationId xmlns:p14="http://schemas.microsoft.com/office/powerpoint/2010/main" val="3168945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3A772-25FD-4D03-845B-1AFDC476D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6007"/>
          </a:xfrm>
        </p:spPr>
        <p:txBody>
          <a:bodyPr/>
          <a:lstStyle/>
          <a:p>
            <a:r>
              <a:rPr lang="en-US" dirty="0"/>
              <a:t>Example 1:-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15C2C-F9ED-4142-B81E-F71860C77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04925"/>
            <a:ext cx="11042043" cy="5467349"/>
          </a:xfrm>
        </p:spPr>
        <p:txBody>
          <a:bodyPr>
            <a:noAutofit/>
          </a:bodyPr>
          <a:lstStyle/>
          <a:p>
            <a:r>
              <a:rPr lang="pt-BR" dirty="0"/>
              <a:t>Convert the following ambiguous grammar into unambiguous grammar-</a:t>
            </a:r>
          </a:p>
          <a:p>
            <a:pPr marL="0" indent="0">
              <a:buNone/>
            </a:pPr>
            <a:r>
              <a:rPr lang="pt-BR" dirty="0"/>
              <a:t>E → E + E / E . E / E* / a / b--------------E</a:t>
            </a:r>
            <a:r>
              <a:rPr lang="pt-BR" dirty="0">
                <a:sym typeface="Wingdings" panose="05000000000000000000" pitchFamily="2" charset="2"/>
              </a:rPr>
              <a:t>E+E|E-E|E*E|E/E|id---id&gt;/&gt;*&gt;+,-</a:t>
            </a:r>
            <a:endParaRPr lang="pt-BR" dirty="0"/>
          </a:p>
          <a:p>
            <a:pPr lvl="1"/>
            <a:r>
              <a:rPr lang="en-US" sz="2000" dirty="0"/>
              <a:t>where * is </a:t>
            </a:r>
            <a:r>
              <a:rPr lang="en-US" sz="2000" dirty="0" err="1"/>
              <a:t>kleen</a:t>
            </a:r>
            <a:r>
              <a:rPr lang="en-US" sz="2000" dirty="0"/>
              <a:t> closure and . is concatenation.</a:t>
            </a:r>
          </a:p>
          <a:p>
            <a:r>
              <a:rPr lang="en-US" dirty="0"/>
              <a:t>To convert the given grammar into its corresponding unambiguous grammar, we implement the precedence and associativity constraints.</a:t>
            </a:r>
          </a:p>
          <a:p>
            <a:pPr marL="0" indent="0">
              <a:buNone/>
            </a:pPr>
            <a:r>
              <a:rPr lang="en-US" dirty="0"/>
              <a:t>We have-</a:t>
            </a:r>
          </a:p>
          <a:p>
            <a:r>
              <a:rPr lang="en-US" dirty="0"/>
              <a:t>Given grammar consists of the following operators- + , . , *</a:t>
            </a:r>
          </a:p>
          <a:p>
            <a:r>
              <a:rPr lang="en-US" dirty="0"/>
              <a:t>Given grammar consists of the following operands- a , b</a:t>
            </a:r>
          </a:p>
          <a:p>
            <a:r>
              <a:rPr lang="en-US" dirty="0"/>
              <a:t>The priority order is- (a , b) &gt; * &gt; . &gt; +</a:t>
            </a:r>
          </a:p>
          <a:p>
            <a:r>
              <a:rPr lang="en-US" dirty="0"/>
              <a:t>where-</a:t>
            </a:r>
          </a:p>
          <a:p>
            <a:r>
              <a:rPr lang="en-US" dirty="0"/>
              <a:t>. operator is left associative//////2+3+4---5+4===9///power operator 2power3power2-----3power2=9-----====2power9=512//right associative operator</a:t>
            </a:r>
          </a:p>
          <a:p>
            <a:r>
              <a:rPr lang="en-US" dirty="0"/>
              <a:t>+ operator is left associative</a:t>
            </a:r>
          </a:p>
        </p:txBody>
      </p:sp>
    </p:spTree>
    <p:extLst>
      <p:ext uri="{BB962C8B-B14F-4D97-AF65-F5344CB8AC3E}">
        <p14:creationId xmlns:p14="http://schemas.microsoft.com/office/powerpoint/2010/main" val="2542866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05FC1-9103-47D8-A958-D7B7F591D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3315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98E49-5D39-46CD-A7DD-B6859C99F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724026"/>
            <a:ext cx="8946541" cy="4524374"/>
          </a:xfrm>
        </p:spPr>
        <p:txBody>
          <a:bodyPr>
            <a:normAutofit/>
          </a:bodyPr>
          <a:lstStyle/>
          <a:p>
            <a:r>
              <a:rPr lang="en-US" dirty="0"/>
              <a:t>E</a:t>
            </a:r>
            <a:r>
              <a:rPr lang="en-US" dirty="0">
                <a:sym typeface="Wingdings" panose="05000000000000000000" pitchFamily="2" charset="2"/>
              </a:rPr>
              <a:t>E+E | E-E//EE+E+EE-E+E+E</a:t>
            </a:r>
          </a:p>
          <a:p>
            <a:r>
              <a:rPr lang="en-US" dirty="0">
                <a:sym typeface="Wingdings" panose="05000000000000000000" pitchFamily="2" charset="2"/>
              </a:rPr>
              <a:t>Recursion</a:t>
            </a:r>
          </a:p>
          <a:p>
            <a:r>
              <a:rPr lang="en-US" dirty="0">
                <a:sym typeface="Wingdings" panose="05000000000000000000" pitchFamily="2" charset="2"/>
              </a:rPr>
              <a:t>Left and right recursion</a:t>
            </a:r>
          </a:p>
          <a:p>
            <a:r>
              <a:rPr lang="en-US" dirty="0">
                <a:sym typeface="Wingdings" panose="05000000000000000000" pitchFamily="2" charset="2"/>
              </a:rPr>
              <a:t>Here u have to remove only one recursion</a:t>
            </a:r>
          </a:p>
          <a:p>
            <a:r>
              <a:rPr lang="en-US" dirty="0">
                <a:sym typeface="Wingdings" panose="05000000000000000000" pitchFamily="2" charset="2"/>
              </a:rPr>
              <a:t>If the operator is left associative, remove right recursion</a:t>
            </a:r>
          </a:p>
          <a:p>
            <a:r>
              <a:rPr lang="en-US" dirty="0">
                <a:sym typeface="Wingdings" panose="05000000000000000000" pitchFamily="2" charset="2"/>
              </a:rPr>
              <a:t>If the operator is right associative, remove left recursion</a:t>
            </a:r>
          </a:p>
          <a:p>
            <a:r>
              <a:rPr lang="en-US" dirty="0">
                <a:sym typeface="Wingdings" panose="05000000000000000000" pitchFamily="2" charset="2"/>
              </a:rPr>
              <a:t>EE+E | E-E---------id-id</a:t>
            </a:r>
          </a:p>
          <a:p>
            <a:r>
              <a:rPr lang="en-US" dirty="0">
                <a:sym typeface="Wingdings" panose="05000000000000000000" pitchFamily="2" charset="2"/>
              </a:rPr>
              <a:t>EE+T | T</a:t>
            </a:r>
          </a:p>
          <a:p>
            <a:r>
              <a:rPr lang="en-US" dirty="0">
                <a:sym typeface="Wingdings" panose="05000000000000000000" pitchFamily="2" charset="2"/>
              </a:rPr>
              <a:t>EE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↑E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EG ↑E | G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254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31D18-E88E-4630-A59D-746D131B6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Leveling the given grammar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45817-1E17-4F28-A20F-FE3182A6E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853248"/>
            <a:ext cx="8946541" cy="4395151"/>
          </a:xfrm>
        </p:spPr>
        <p:txBody>
          <a:bodyPr/>
          <a:lstStyle/>
          <a:p>
            <a:r>
              <a:rPr lang="en-US" dirty="0"/>
              <a:t>The priority order is- (a , b)&gt; </a:t>
            </a:r>
            <a:r>
              <a:rPr lang="pt-BR" dirty="0">
                <a:latin typeface="Calibri" panose="020F0502020204030204" pitchFamily="34" charset="0"/>
                <a:cs typeface="Calibri" panose="020F0502020204030204" pitchFamily="34" charset="0"/>
              </a:rPr>
              <a:t>↑ </a:t>
            </a:r>
            <a:r>
              <a:rPr lang="en-US" dirty="0"/>
              <a:t>&gt; * &gt; . &gt; +</a:t>
            </a:r>
          </a:p>
          <a:p>
            <a:r>
              <a:rPr lang="pt-BR" dirty="0"/>
              <a:t>E → E + E / E . E / E* / E</a:t>
            </a:r>
            <a:r>
              <a:rPr lang="pt-BR" dirty="0">
                <a:latin typeface="Calibri" panose="020F0502020204030204" pitchFamily="34" charset="0"/>
                <a:cs typeface="Calibri" panose="020F0502020204030204" pitchFamily="34" charset="0"/>
              </a:rPr>
              <a:t>↑E</a:t>
            </a:r>
            <a:r>
              <a:rPr lang="pt-BR" dirty="0"/>
              <a:t> / a / b-</a:t>
            </a:r>
            <a:endParaRPr lang="en-US" dirty="0"/>
          </a:p>
          <a:p>
            <a:pPr lvl="1"/>
            <a:r>
              <a:rPr lang="en-US" dirty="0"/>
              <a:t>E</a:t>
            </a:r>
            <a:r>
              <a:rPr lang="en-US" dirty="0">
                <a:sym typeface="Wingdings" panose="05000000000000000000" pitchFamily="2" charset="2"/>
              </a:rPr>
              <a:t>E+E--------EE+T | T//////EE+E+E+E……..///EE+T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EE.E---------TT.F | F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EE*------FG*</a:t>
            </a:r>
          </a:p>
          <a:p>
            <a:pPr marL="457200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E</a:t>
            </a:r>
            <a:r>
              <a:rPr lang="pt-BR" dirty="0"/>
              <a:t> E</a:t>
            </a:r>
            <a:r>
              <a:rPr lang="pt-BR" dirty="0">
                <a:latin typeface="Calibri" panose="020F0502020204030204" pitchFamily="34" charset="0"/>
                <a:cs typeface="Calibri" panose="020F0502020204030204" pitchFamily="34" charset="0"/>
              </a:rPr>
              <a:t>↑E</a:t>
            </a:r>
            <a:r>
              <a:rPr lang="pt-BR" dirty="0"/>
              <a:t> ------G</a:t>
            </a:r>
            <a:r>
              <a:rPr lang="pt-BR" dirty="0">
                <a:sym typeface="Wingdings" panose="05000000000000000000" pitchFamily="2" charset="2"/>
              </a:rPr>
              <a:t>R</a:t>
            </a:r>
            <a:r>
              <a:rPr lang="pt-BR" dirty="0">
                <a:latin typeface="Calibri" panose="020F0502020204030204" pitchFamily="34" charset="0"/>
                <a:cs typeface="Calibri" panose="020F0502020204030204" pitchFamily="34" charset="0"/>
              </a:rPr>
              <a:t> ↑E</a:t>
            </a:r>
            <a:r>
              <a:rPr lang="pt-BR" dirty="0"/>
              <a:t> | R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Ea</a:t>
            </a:r>
            <a:r>
              <a:rPr lang="en-US" dirty="0">
                <a:sym typeface="Wingdings" panose="05000000000000000000" pitchFamily="2" charset="2"/>
              </a:rPr>
              <a:t> |b-----R--&gt;a |b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900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BF7EF-BE17-48E0-B658-A53760720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587" y="252692"/>
            <a:ext cx="8946541" cy="612905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b="1" dirty="0">
                <a:highlight>
                  <a:srgbClr val="808080"/>
                </a:highlight>
              </a:rPr>
              <a:t>Consider the given grammar</a:t>
            </a:r>
          </a:p>
          <a:p>
            <a:pPr marL="0" indent="0" algn="ctr">
              <a:buNone/>
            </a:pPr>
            <a:r>
              <a:rPr lang="en-US" b="1" dirty="0">
                <a:highlight>
                  <a:srgbClr val="808080"/>
                </a:highlight>
              </a:rPr>
              <a:t>E</a:t>
            </a:r>
            <a:r>
              <a:rPr lang="en-US" b="1" dirty="0">
                <a:highlight>
                  <a:srgbClr val="808080"/>
                </a:highlight>
                <a:sym typeface="Wingdings" panose="05000000000000000000" pitchFamily="2" charset="2"/>
              </a:rPr>
              <a:t>E+E | E.E |E* </a:t>
            </a:r>
            <a:r>
              <a:rPr lang="en-US" b="1" dirty="0" err="1">
                <a:highlight>
                  <a:srgbClr val="808080"/>
                </a:highlight>
                <a:sym typeface="Wingdings" panose="05000000000000000000" pitchFamily="2" charset="2"/>
              </a:rPr>
              <a:t>a|b</a:t>
            </a:r>
            <a:endParaRPr lang="en-US" b="1" dirty="0">
              <a:highlight>
                <a:srgbClr val="808080"/>
              </a:highlight>
            </a:endParaRPr>
          </a:p>
          <a:p>
            <a:r>
              <a:rPr lang="en-US" dirty="0"/>
              <a:t>Using the precedence and associativity rules, we write the corresponding unambiguous grammar as- </a:t>
            </a:r>
            <a:r>
              <a:rPr lang="en-US" dirty="0" err="1"/>
              <a:t>a.b</a:t>
            </a:r>
            <a:r>
              <a:rPr lang="en-US" dirty="0"/>
              <a:t>, a*</a:t>
            </a:r>
          </a:p>
          <a:p>
            <a:r>
              <a:rPr lang="en-US" dirty="0"/>
              <a:t>E</a:t>
            </a:r>
            <a:r>
              <a:rPr lang="en-US" dirty="0">
                <a:sym typeface="Wingdings" panose="05000000000000000000" pitchFamily="2" charset="2"/>
              </a:rPr>
              <a:t>T---TF---F</a:t>
            </a:r>
            <a:endParaRPr lang="en-US" dirty="0"/>
          </a:p>
          <a:p>
            <a:r>
              <a:rPr lang="en-US" dirty="0"/>
              <a:t>E → E + T | T---------E</a:t>
            </a:r>
            <a:r>
              <a:rPr lang="en-US" dirty="0">
                <a:sym typeface="Wingdings" panose="05000000000000000000" pitchFamily="2" charset="2"/>
              </a:rPr>
              <a:t>E+E</a:t>
            </a:r>
            <a:endParaRPr lang="en-US" dirty="0"/>
          </a:p>
          <a:p>
            <a:r>
              <a:rPr lang="en-US" dirty="0"/>
              <a:t>T → T . F |F </a:t>
            </a:r>
          </a:p>
          <a:p>
            <a:r>
              <a:rPr lang="en-US" dirty="0"/>
              <a:t>F → F* / G</a:t>
            </a:r>
          </a:p>
          <a:p>
            <a:r>
              <a:rPr lang="en-US" dirty="0"/>
              <a:t>G → a / b</a:t>
            </a:r>
          </a:p>
          <a:p>
            <a:r>
              <a:rPr lang="en-US" dirty="0"/>
              <a:t>Unambiguous Grammar</a:t>
            </a:r>
          </a:p>
          <a:p>
            <a:pPr marL="0" indent="0" algn="ctr">
              <a:buNone/>
            </a:pPr>
            <a:r>
              <a:rPr lang="en-US" dirty="0"/>
              <a:t>OR</a:t>
            </a:r>
          </a:p>
          <a:p>
            <a:r>
              <a:rPr lang="en-US" dirty="0"/>
              <a:t>E → E + T / T</a:t>
            </a:r>
          </a:p>
          <a:p>
            <a:r>
              <a:rPr lang="en-US" dirty="0"/>
              <a:t>T → T . F / F</a:t>
            </a:r>
          </a:p>
          <a:p>
            <a:r>
              <a:rPr lang="en-US" dirty="0"/>
              <a:t>F → F* / a / b</a:t>
            </a:r>
          </a:p>
          <a:p>
            <a:r>
              <a:rPr lang="en-US" dirty="0"/>
              <a:t>Unambiguous Grammar</a:t>
            </a:r>
          </a:p>
        </p:txBody>
      </p:sp>
    </p:spTree>
    <p:extLst>
      <p:ext uri="{BB962C8B-B14F-4D97-AF65-F5344CB8AC3E}">
        <p14:creationId xmlns:p14="http://schemas.microsoft.com/office/powerpoint/2010/main" val="279628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5FB25-A868-4FB8-A885-8D003D819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95057"/>
          </a:xfrm>
        </p:spPr>
        <p:txBody>
          <a:bodyPr/>
          <a:lstStyle/>
          <a:p>
            <a:r>
              <a:rPr lang="en-US" dirty="0"/>
              <a:t>Example 2:-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AD3A1-5FDA-4AF4-8734-173B5D918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436272"/>
            <a:ext cx="9404723" cy="525027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Convert the following ambiguous grammar into unambiguous grammar-</a:t>
            </a:r>
          </a:p>
          <a:p>
            <a:pPr marL="0" indent="0">
              <a:buNone/>
            </a:pPr>
            <a:r>
              <a:rPr lang="en-US" dirty="0" err="1"/>
              <a:t>bexp</a:t>
            </a:r>
            <a:r>
              <a:rPr lang="en-US" dirty="0"/>
              <a:t> → </a:t>
            </a:r>
            <a:r>
              <a:rPr lang="en-US" dirty="0" err="1"/>
              <a:t>bexp</a:t>
            </a:r>
            <a:r>
              <a:rPr lang="en-US" dirty="0"/>
              <a:t> or </a:t>
            </a:r>
            <a:r>
              <a:rPr lang="en-US" dirty="0" err="1"/>
              <a:t>bexp</a:t>
            </a:r>
            <a:r>
              <a:rPr lang="en-US" dirty="0"/>
              <a:t> / </a:t>
            </a:r>
            <a:r>
              <a:rPr lang="en-US" dirty="0" err="1"/>
              <a:t>bexp</a:t>
            </a:r>
            <a:r>
              <a:rPr lang="en-US" dirty="0"/>
              <a:t> and </a:t>
            </a:r>
            <a:r>
              <a:rPr lang="en-US" dirty="0" err="1"/>
              <a:t>bexp</a:t>
            </a:r>
            <a:r>
              <a:rPr lang="en-US" dirty="0"/>
              <a:t> / not </a:t>
            </a:r>
            <a:r>
              <a:rPr lang="en-US" dirty="0" err="1"/>
              <a:t>bexp</a:t>
            </a:r>
            <a:r>
              <a:rPr lang="en-US" dirty="0"/>
              <a:t> / t / f</a:t>
            </a:r>
          </a:p>
          <a:p>
            <a:r>
              <a:rPr lang="en-US" dirty="0"/>
              <a:t>where </a:t>
            </a:r>
            <a:r>
              <a:rPr lang="en-US" dirty="0" err="1"/>
              <a:t>bexp</a:t>
            </a:r>
            <a:r>
              <a:rPr lang="en-US" dirty="0"/>
              <a:t> represents Boolean expression, t represents True and f represents False.</a:t>
            </a:r>
          </a:p>
          <a:p>
            <a:r>
              <a:rPr lang="en-US" dirty="0"/>
              <a:t>To convert the given grammar into its corresponding unambiguous grammar, we implement the precedence and associativity constraints.</a:t>
            </a:r>
          </a:p>
          <a:p>
            <a:r>
              <a:rPr lang="en-US" dirty="0"/>
              <a:t> We have-</a:t>
            </a:r>
          </a:p>
          <a:p>
            <a:r>
              <a:rPr lang="en-US" dirty="0"/>
              <a:t>Given grammar consists of the following operators-</a:t>
            </a:r>
          </a:p>
          <a:p>
            <a:r>
              <a:rPr lang="en-US" dirty="0"/>
              <a:t>or , and , not</a:t>
            </a:r>
          </a:p>
          <a:p>
            <a:r>
              <a:rPr lang="en-US" dirty="0"/>
              <a:t>Given grammar consists of the following operands-</a:t>
            </a:r>
          </a:p>
          <a:p>
            <a:r>
              <a:rPr lang="en-US" dirty="0"/>
              <a:t>T , F</a:t>
            </a:r>
          </a:p>
          <a:p>
            <a:r>
              <a:rPr lang="en-US" dirty="0"/>
              <a:t>The priority order is-</a:t>
            </a:r>
          </a:p>
          <a:p>
            <a:r>
              <a:rPr lang="en-US" dirty="0"/>
              <a:t>(T , F) &gt; not &gt; and &gt; or</a:t>
            </a:r>
          </a:p>
          <a:p>
            <a:r>
              <a:rPr lang="en-US" dirty="0"/>
              <a:t>where-</a:t>
            </a:r>
          </a:p>
          <a:p>
            <a:r>
              <a:rPr lang="en-US" dirty="0"/>
              <a:t>and operator is left associative</a:t>
            </a:r>
          </a:p>
          <a:p>
            <a:r>
              <a:rPr lang="en-US" dirty="0"/>
              <a:t>or operator is left associative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98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589BC-930A-4C1A-98D9-58238E5BF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487" y="443193"/>
            <a:ext cx="8946541" cy="5814732"/>
          </a:xfrm>
        </p:spPr>
        <p:txBody>
          <a:bodyPr>
            <a:noAutofit/>
          </a:bodyPr>
          <a:lstStyle/>
          <a:p>
            <a:r>
              <a:rPr lang="en-US" dirty="0"/>
              <a:t>Using the precedence and associativity rules, we write the corresponding unambiguous grammar as-</a:t>
            </a:r>
          </a:p>
          <a:p>
            <a:r>
              <a:rPr lang="en-US" dirty="0" err="1"/>
              <a:t>bexp</a:t>
            </a:r>
            <a:r>
              <a:rPr lang="en-US" dirty="0"/>
              <a:t> → </a:t>
            </a:r>
            <a:r>
              <a:rPr lang="en-US" dirty="0" err="1"/>
              <a:t>bexp</a:t>
            </a:r>
            <a:r>
              <a:rPr lang="en-US" dirty="0"/>
              <a:t> or M / M</a:t>
            </a:r>
          </a:p>
          <a:p>
            <a:r>
              <a:rPr lang="en-US" dirty="0"/>
              <a:t>M → M and N / N</a:t>
            </a:r>
          </a:p>
          <a:p>
            <a:r>
              <a:rPr lang="en-US" dirty="0"/>
              <a:t>N → not N / G</a:t>
            </a:r>
          </a:p>
          <a:p>
            <a:r>
              <a:rPr lang="en-US" dirty="0"/>
              <a:t>G → T / F</a:t>
            </a:r>
          </a:p>
          <a:p>
            <a:r>
              <a:rPr lang="en-US" dirty="0"/>
              <a:t>Unambiguous Grammar</a:t>
            </a:r>
          </a:p>
          <a:p>
            <a:pPr marL="0" indent="0" algn="ctr">
              <a:buNone/>
            </a:pPr>
            <a:r>
              <a:rPr lang="en-US" dirty="0"/>
              <a:t>OR</a:t>
            </a:r>
          </a:p>
          <a:p>
            <a:r>
              <a:rPr lang="en-US" dirty="0" err="1"/>
              <a:t>bexp</a:t>
            </a:r>
            <a:r>
              <a:rPr lang="en-US" dirty="0"/>
              <a:t> → </a:t>
            </a:r>
            <a:r>
              <a:rPr lang="en-US" dirty="0" err="1"/>
              <a:t>bexp</a:t>
            </a:r>
            <a:r>
              <a:rPr lang="en-US" dirty="0"/>
              <a:t> or M / M</a:t>
            </a:r>
          </a:p>
          <a:p>
            <a:r>
              <a:rPr lang="en-US" dirty="0"/>
              <a:t>M → M and N / N</a:t>
            </a:r>
          </a:p>
          <a:p>
            <a:r>
              <a:rPr lang="en-US" dirty="0"/>
              <a:t>N → not N / T / F</a:t>
            </a:r>
          </a:p>
          <a:p>
            <a:r>
              <a:rPr lang="en-US" dirty="0"/>
              <a:t>Unambiguous Grammar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778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7ECB9-60E0-4E17-B8A5-0038DFADA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99832"/>
          </a:xfrm>
        </p:spPr>
        <p:txBody>
          <a:bodyPr/>
          <a:lstStyle/>
          <a:p>
            <a:r>
              <a:rPr lang="en-US" dirty="0"/>
              <a:t>Left Recursion-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0F3C4-4589-4E83-B861-8F07AD082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52550"/>
            <a:ext cx="8946541" cy="4195481"/>
          </a:xfrm>
        </p:spPr>
        <p:txBody>
          <a:bodyPr>
            <a:normAutofit/>
          </a:bodyPr>
          <a:lstStyle/>
          <a:p>
            <a:r>
              <a:rPr lang="en-US" dirty="0"/>
              <a:t>A production of grammar is said to have left recursion if the leftmost variable of its RHS is same as variable of its LHS.</a:t>
            </a:r>
          </a:p>
          <a:p>
            <a:r>
              <a:rPr lang="en-US" dirty="0"/>
              <a:t>A grammar containing a production having left recursion is called as Left Recursive Grammar.</a:t>
            </a:r>
          </a:p>
          <a:p>
            <a:r>
              <a:rPr lang="en-US" dirty="0"/>
              <a:t>Example-</a:t>
            </a:r>
          </a:p>
          <a:p>
            <a:r>
              <a:rPr lang="en-US" dirty="0"/>
              <a:t>S → Sa / ∈</a:t>
            </a:r>
          </a:p>
          <a:p>
            <a:r>
              <a:rPr lang="en-US" dirty="0"/>
              <a:t>(Left Recursive Grammar)</a:t>
            </a:r>
          </a:p>
          <a:p>
            <a:r>
              <a:rPr lang="en-US" dirty="0"/>
              <a:t>Left recursion is considered to be a problematic situation for Top down parsers.</a:t>
            </a:r>
          </a:p>
          <a:p>
            <a:r>
              <a:rPr lang="en-US" dirty="0"/>
              <a:t>Therefore, left recursion has to be eliminated from the grammar.</a:t>
            </a:r>
          </a:p>
        </p:txBody>
      </p:sp>
    </p:spTree>
    <p:extLst>
      <p:ext uri="{BB962C8B-B14F-4D97-AF65-F5344CB8AC3E}">
        <p14:creationId xmlns:p14="http://schemas.microsoft.com/office/powerpoint/2010/main" val="12396061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B042-5A46-4A6B-9DFE-8C0615076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56957"/>
          </a:xfrm>
        </p:spPr>
        <p:txBody>
          <a:bodyPr/>
          <a:lstStyle/>
          <a:p>
            <a:r>
              <a:rPr lang="en-US" dirty="0"/>
              <a:t>Elimination of Left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89FEC-0949-44D1-978F-FBC8A307F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562" y="1295961"/>
            <a:ext cx="9404723" cy="5190564"/>
          </a:xfrm>
        </p:spPr>
        <p:txBody>
          <a:bodyPr>
            <a:noAutofit/>
          </a:bodyPr>
          <a:lstStyle/>
          <a:p>
            <a:r>
              <a:rPr lang="en-US" dirty="0"/>
              <a:t>Left recursion is eliminated by converting the grammar into a right recursive grammar.</a:t>
            </a:r>
          </a:p>
          <a:p>
            <a:r>
              <a:rPr lang="en-US" dirty="0"/>
              <a:t>If we have the left-recursive pair of productions-</a:t>
            </a:r>
          </a:p>
          <a:p>
            <a:pPr marL="0" indent="0">
              <a:buNone/>
            </a:pPr>
            <a:r>
              <a:rPr lang="en-US" dirty="0"/>
              <a:t>			A → Aα / β</a:t>
            </a:r>
          </a:p>
          <a:p>
            <a:r>
              <a:rPr lang="en-US" dirty="0"/>
              <a:t>(Left Recursive Grammar)</a:t>
            </a:r>
          </a:p>
          <a:p>
            <a:r>
              <a:rPr lang="en-US" dirty="0"/>
              <a:t>where β does not begin with an A.</a:t>
            </a:r>
          </a:p>
          <a:p>
            <a:r>
              <a:rPr lang="en-US" dirty="0"/>
              <a:t>Then, we can eliminate left recursion by replacing the pair of productions with-</a:t>
            </a:r>
          </a:p>
          <a:p>
            <a:pPr marL="0" indent="0">
              <a:buNone/>
            </a:pPr>
            <a:r>
              <a:rPr lang="en-US" dirty="0"/>
              <a:t>			A → βA’</a:t>
            </a:r>
          </a:p>
          <a:p>
            <a:pPr marL="0" indent="0">
              <a:buNone/>
            </a:pPr>
            <a:r>
              <a:rPr lang="en-US" dirty="0"/>
              <a:t>			A’ → αA’ / ∈</a:t>
            </a:r>
          </a:p>
          <a:p>
            <a:r>
              <a:rPr lang="en-US" dirty="0"/>
              <a:t>(Right Recursive Grammar)</a:t>
            </a:r>
          </a:p>
          <a:p>
            <a:r>
              <a:rPr lang="en-US" dirty="0"/>
              <a:t>This right recursive grammar functions same as left recursive grammar.</a:t>
            </a:r>
          </a:p>
        </p:txBody>
      </p:sp>
    </p:spTree>
    <p:extLst>
      <p:ext uri="{BB962C8B-B14F-4D97-AF65-F5344CB8AC3E}">
        <p14:creationId xmlns:p14="http://schemas.microsoft.com/office/powerpoint/2010/main" val="4025859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85668-8920-4195-9DC2-B38582F42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42657"/>
          </a:xfrm>
        </p:spPr>
        <p:txBody>
          <a:bodyPr/>
          <a:lstStyle/>
          <a:p>
            <a:r>
              <a:rPr lang="en-US" dirty="0"/>
              <a:t>Examples: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B7BB0-A0C3-4EDC-BADE-D6757C158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362" y="1214718"/>
            <a:ext cx="8946541" cy="5348007"/>
          </a:xfrm>
        </p:spPr>
        <p:txBody>
          <a:bodyPr>
            <a:normAutofit/>
          </a:bodyPr>
          <a:lstStyle/>
          <a:p>
            <a:r>
              <a:rPr lang="en-US" dirty="0"/>
              <a:t> Consider the following grammar and eliminate left recursion-</a:t>
            </a:r>
          </a:p>
          <a:p>
            <a:pPr marL="0" indent="0">
              <a:buNone/>
            </a:pPr>
            <a:r>
              <a:rPr lang="en-US" dirty="0"/>
              <a:t>A → Aα1 |Aα2 / β1 | β2 |β3</a:t>
            </a:r>
          </a:p>
          <a:p>
            <a:pPr marL="0" indent="0">
              <a:buNone/>
            </a:pPr>
            <a:r>
              <a:rPr lang="en-US" dirty="0"/>
              <a:t>A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βA’</a:t>
            </a:r>
          </a:p>
          <a:p>
            <a:pPr marL="0" indent="0">
              <a:buNone/>
            </a:pPr>
            <a:r>
              <a:rPr lang="en-US" dirty="0"/>
              <a:t>A’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α1 A’ |α2 A’ |∈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→ </a:t>
            </a:r>
            <a:r>
              <a:rPr lang="en-US" dirty="0" err="1"/>
              <a:t>ABd</a:t>
            </a:r>
            <a:r>
              <a:rPr lang="en-US" dirty="0"/>
              <a:t> / Aa / a------A → Aα1 |Aα2 / β</a:t>
            </a:r>
          </a:p>
          <a:p>
            <a:pPr marL="0" indent="0">
              <a:buNone/>
            </a:pPr>
            <a:r>
              <a:rPr lang="en-US" dirty="0"/>
              <a:t>B → Be / b------A → Aα/ β</a:t>
            </a:r>
          </a:p>
          <a:p>
            <a:r>
              <a:rPr lang="en-US" dirty="0"/>
              <a:t>The grammar after eliminating left recursion is-</a:t>
            </a:r>
          </a:p>
          <a:p>
            <a:pPr marL="0" indent="0">
              <a:buNone/>
            </a:pPr>
            <a:r>
              <a:rPr lang="en-US" dirty="0"/>
              <a:t>A → </a:t>
            </a:r>
            <a:r>
              <a:rPr lang="en-US" dirty="0" err="1"/>
              <a:t>aA</a:t>
            </a:r>
            <a:r>
              <a:rPr lang="en-US" dirty="0"/>
              <a:t>’</a:t>
            </a:r>
          </a:p>
          <a:p>
            <a:pPr marL="0" indent="0">
              <a:buNone/>
            </a:pPr>
            <a:r>
              <a:rPr lang="en-US" dirty="0"/>
              <a:t>A’ → </a:t>
            </a:r>
            <a:r>
              <a:rPr lang="en-US" dirty="0" err="1"/>
              <a:t>BdA</a:t>
            </a:r>
            <a:r>
              <a:rPr lang="en-US" dirty="0"/>
              <a:t>’ / </a:t>
            </a:r>
            <a:r>
              <a:rPr lang="en-US" dirty="0" err="1"/>
              <a:t>aA</a:t>
            </a:r>
            <a:r>
              <a:rPr lang="en-US" dirty="0"/>
              <a:t>’ / ∈</a:t>
            </a:r>
          </a:p>
          <a:p>
            <a:pPr marL="0" indent="0">
              <a:buNone/>
            </a:pPr>
            <a:r>
              <a:rPr lang="en-US" dirty="0"/>
              <a:t>B → </a:t>
            </a:r>
            <a:r>
              <a:rPr lang="en-US" dirty="0" err="1"/>
              <a:t>bB</a:t>
            </a:r>
            <a:r>
              <a:rPr lang="en-US" dirty="0"/>
              <a:t>’</a:t>
            </a:r>
          </a:p>
          <a:p>
            <a:pPr marL="0" indent="0">
              <a:buNone/>
            </a:pPr>
            <a:r>
              <a:rPr lang="en-US" dirty="0"/>
              <a:t>B’ → </a:t>
            </a:r>
            <a:r>
              <a:rPr lang="en-US" dirty="0" err="1"/>
              <a:t>eB</a:t>
            </a:r>
            <a:r>
              <a:rPr lang="en-US" dirty="0"/>
              <a:t>’ / ∈</a:t>
            </a:r>
          </a:p>
        </p:txBody>
      </p:sp>
    </p:spTree>
    <p:extLst>
      <p:ext uri="{BB962C8B-B14F-4D97-AF65-F5344CB8AC3E}">
        <p14:creationId xmlns:p14="http://schemas.microsoft.com/office/powerpoint/2010/main" val="3654425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20067-908E-47F6-BC77-57081391F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762" y="224118"/>
            <a:ext cx="9793288" cy="6348132"/>
          </a:xfrm>
        </p:spPr>
        <p:txBody>
          <a:bodyPr>
            <a:normAutofit fontScale="25000" lnSpcReduction="20000"/>
          </a:bodyPr>
          <a:lstStyle/>
          <a:p>
            <a:r>
              <a:rPr lang="en-US" sz="8000" b="1" dirty="0"/>
              <a:t>Consider the following grammar and eliminate left recursion</a:t>
            </a:r>
            <a:r>
              <a:rPr lang="en-US" b="1" dirty="0"/>
              <a:t>-</a:t>
            </a:r>
          </a:p>
          <a:p>
            <a:pPr marL="0" indent="0">
              <a:buNone/>
            </a:pPr>
            <a:r>
              <a:rPr lang="en-US" sz="8000" dirty="0"/>
              <a:t>E → E + E / E x E / a----A → Aα1 |Aα2 / β</a:t>
            </a:r>
          </a:p>
          <a:p>
            <a:r>
              <a:rPr lang="en-US" sz="8000" dirty="0"/>
              <a:t> Solution-</a:t>
            </a:r>
          </a:p>
          <a:p>
            <a:r>
              <a:rPr lang="en-US" sz="8000" dirty="0"/>
              <a:t>Th grammar after eliminating left recursion is-</a:t>
            </a:r>
          </a:p>
          <a:p>
            <a:pPr marL="0" indent="0">
              <a:buNone/>
            </a:pPr>
            <a:r>
              <a:rPr lang="en-US" sz="8000" dirty="0"/>
              <a:t>E → </a:t>
            </a:r>
            <a:r>
              <a:rPr lang="en-US" sz="8000" dirty="0" err="1"/>
              <a:t>aE</a:t>
            </a:r>
            <a:r>
              <a:rPr lang="en-US" sz="8000" dirty="0"/>
              <a:t>’</a:t>
            </a:r>
          </a:p>
          <a:p>
            <a:pPr marL="0" indent="0">
              <a:buNone/>
            </a:pPr>
            <a:r>
              <a:rPr lang="en-US" sz="8000" dirty="0"/>
              <a:t>E’ → +EE’ / </a:t>
            </a:r>
            <a:r>
              <a:rPr lang="en-US" sz="8000" dirty="0" err="1"/>
              <a:t>xEE</a:t>
            </a:r>
            <a:r>
              <a:rPr lang="en-US" sz="8000" dirty="0"/>
              <a:t>’ / ∈</a:t>
            </a:r>
          </a:p>
          <a:p>
            <a:pPr marL="0" indent="0">
              <a:buNone/>
            </a:pPr>
            <a:endParaRPr lang="en-US" sz="8000" dirty="0"/>
          </a:p>
          <a:p>
            <a:r>
              <a:rPr lang="en-US" sz="8000" b="1" dirty="0"/>
              <a:t> Consider the following grammar and eliminate left recursion-</a:t>
            </a:r>
          </a:p>
          <a:p>
            <a:pPr marL="0" indent="0">
              <a:buNone/>
            </a:pPr>
            <a:r>
              <a:rPr lang="en-US" sz="8000" dirty="0"/>
              <a:t>E → E + T / T</a:t>
            </a:r>
          </a:p>
          <a:p>
            <a:pPr marL="0" indent="0">
              <a:buNone/>
            </a:pPr>
            <a:r>
              <a:rPr lang="en-US" sz="8000" dirty="0"/>
              <a:t>T → T x F / F</a:t>
            </a:r>
          </a:p>
          <a:p>
            <a:pPr marL="0" indent="0">
              <a:buNone/>
            </a:pPr>
            <a:r>
              <a:rPr lang="en-US" sz="8000" dirty="0"/>
              <a:t>F → id</a:t>
            </a:r>
          </a:p>
          <a:p>
            <a:r>
              <a:rPr lang="en-US" sz="8000" dirty="0"/>
              <a:t>The grammar after eliminating left recursion is-</a:t>
            </a:r>
          </a:p>
          <a:p>
            <a:pPr marL="0" indent="0">
              <a:buNone/>
            </a:pPr>
            <a:r>
              <a:rPr lang="en-US" sz="8000" dirty="0"/>
              <a:t>E → TE’</a:t>
            </a:r>
          </a:p>
          <a:p>
            <a:pPr marL="0" indent="0">
              <a:buNone/>
            </a:pPr>
            <a:r>
              <a:rPr lang="en-US" sz="8000" dirty="0"/>
              <a:t>E’ → +TE’ / ∈</a:t>
            </a:r>
          </a:p>
          <a:p>
            <a:pPr marL="0" indent="0">
              <a:buNone/>
            </a:pPr>
            <a:r>
              <a:rPr lang="en-US" sz="8000" dirty="0"/>
              <a:t>T → FT’</a:t>
            </a:r>
          </a:p>
          <a:p>
            <a:pPr marL="0" indent="0">
              <a:buNone/>
            </a:pPr>
            <a:r>
              <a:rPr lang="en-US" sz="8000" dirty="0"/>
              <a:t>T’ → </a:t>
            </a:r>
            <a:r>
              <a:rPr lang="en-US" sz="8000" dirty="0" err="1"/>
              <a:t>xFT</a:t>
            </a:r>
            <a:r>
              <a:rPr lang="en-US" sz="8000" dirty="0"/>
              <a:t>’ / ∈</a:t>
            </a:r>
          </a:p>
          <a:p>
            <a:r>
              <a:rPr lang="en-US" sz="8000" dirty="0"/>
              <a:t>F → id</a:t>
            </a:r>
          </a:p>
        </p:txBody>
      </p:sp>
    </p:spTree>
    <p:extLst>
      <p:ext uri="{BB962C8B-B14F-4D97-AF65-F5344CB8AC3E}">
        <p14:creationId xmlns:p14="http://schemas.microsoft.com/office/powerpoint/2010/main" val="38015168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A3805-F979-41F0-9FC3-63AB90AEE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47432"/>
          </a:xfrm>
        </p:spPr>
        <p:txBody>
          <a:bodyPr/>
          <a:lstStyle/>
          <a:p>
            <a:r>
              <a:rPr lang="en-US" dirty="0"/>
              <a:t>Indirect Left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190BA-C72A-4DA7-AA03-4C01E7442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331" y="1424268"/>
            <a:ext cx="9535503" cy="4195481"/>
          </a:xfrm>
        </p:spPr>
        <p:txBody>
          <a:bodyPr>
            <a:normAutofit/>
          </a:bodyPr>
          <a:lstStyle/>
          <a:p>
            <a:r>
              <a:rPr lang="en-US" sz="1800" dirty="0"/>
              <a:t>Consider the following grammar and eliminate left recursion-</a:t>
            </a:r>
          </a:p>
          <a:p>
            <a:r>
              <a:rPr lang="en-US" sz="1800" dirty="0"/>
              <a:t>X → </a:t>
            </a:r>
            <a:r>
              <a:rPr lang="en-US" sz="1800" dirty="0" err="1"/>
              <a:t>XSb</a:t>
            </a:r>
            <a:r>
              <a:rPr lang="en-US" sz="1800" dirty="0"/>
              <a:t> / Sa / b</a:t>
            </a:r>
          </a:p>
          <a:p>
            <a:r>
              <a:rPr lang="en-US" sz="1800" dirty="0"/>
              <a:t>S → Sb / </a:t>
            </a:r>
            <a:r>
              <a:rPr lang="en-US" sz="1800" dirty="0" err="1"/>
              <a:t>Xa</a:t>
            </a:r>
            <a:r>
              <a:rPr lang="en-US" sz="1800" dirty="0"/>
              <a:t> /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B949BD-930A-4EDA-B993-C17F98FC8597}"/>
              </a:ext>
            </a:extLst>
          </p:cNvPr>
          <p:cNvSpPr txBox="1"/>
          <p:nvPr/>
        </p:nvSpPr>
        <p:spPr>
          <a:xfrm>
            <a:off x="515331" y="2519302"/>
            <a:ext cx="5448301" cy="4194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Step-01:</a:t>
            </a:r>
          </a:p>
          <a:p>
            <a:pPr>
              <a:lnSpc>
                <a:spcPct val="150000"/>
              </a:lnSpc>
            </a:pPr>
            <a:r>
              <a:rPr lang="en-US" dirty="0"/>
              <a:t>First let us eliminate left recursion from</a:t>
            </a:r>
          </a:p>
          <a:p>
            <a:pPr>
              <a:lnSpc>
                <a:spcPct val="150000"/>
              </a:lnSpc>
            </a:pPr>
            <a:r>
              <a:rPr lang="en-US" dirty="0"/>
              <a:t>X → </a:t>
            </a:r>
            <a:r>
              <a:rPr lang="en-US" dirty="0" err="1"/>
              <a:t>XSb</a:t>
            </a:r>
            <a:r>
              <a:rPr lang="en-US" dirty="0"/>
              <a:t> / Sa / b</a:t>
            </a:r>
          </a:p>
          <a:p>
            <a:pPr>
              <a:lnSpc>
                <a:spcPct val="150000"/>
              </a:lnSpc>
            </a:pPr>
            <a:r>
              <a:rPr lang="en-US" dirty="0"/>
              <a:t>Eliminating left recursion from here, we get-</a:t>
            </a:r>
          </a:p>
          <a:p>
            <a:pPr>
              <a:lnSpc>
                <a:spcPct val="150000"/>
              </a:lnSpc>
            </a:pPr>
            <a:r>
              <a:rPr lang="en-US" dirty="0"/>
              <a:t>X → </a:t>
            </a:r>
            <a:r>
              <a:rPr lang="en-US" dirty="0" err="1"/>
              <a:t>SaX</a:t>
            </a:r>
            <a:r>
              <a:rPr lang="en-US" dirty="0"/>
              <a:t>’ / </a:t>
            </a:r>
            <a:r>
              <a:rPr lang="en-US" dirty="0" err="1"/>
              <a:t>bX</a:t>
            </a:r>
            <a:r>
              <a:rPr lang="en-US" dirty="0"/>
              <a:t>’</a:t>
            </a:r>
          </a:p>
          <a:p>
            <a:pPr>
              <a:lnSpc>
                <a:spcPct val="150000"/>
              </a:lnSpc>
            </a:pPr>
            <a:r>
              <a:rPr lang="en-US" dirty="0"/>
              <a:t>X’ → </a:t>
            </a:r>
            <a:r>
              <a:rPr lang="en-US" dirty="0" err="1"/>
              <a:t>SbX</a:t>
            </a:r>
            <a:r>
              <a:rPr lang="en-US" dirty="0"/>
              <a:t>’ / ∈</a:t>
            </a:r>
          </a:p>
          <a:p>
            <a:pPr>
              <a:lnSpc>
                <a:spcPct val="150000"/>
              </a:lnSpc>
            </a:pPr>
            <a:r>
              <a:rPr lang="en-US" dirty="0"/>
              <a:t>Now, given grammar becomes-</a:t>
            </a:r>
          </a:p>
          <a:p>
            <a:pPr>
              <a:lnSpc>
                <a:spcPct val="150000"/>
              </a:lnSpc>
            </a:pPr>
            <a:r>
              <a:rPr lang="en-US" dirty="0"/>
              <a:t>X → </a:t>
            </a:r>
            <a:r>
              <a:rPr lang="en-US" dirty="0" err="1"/>
              <a:t>SaX</a:t>
            </a:r>
            <a:r>
              <a:rPr lang="en-US" dirty="0"/>
              <a:t>’ / </a:t>
            </a:r>
            <a:r>
              <a:rPr lang="en-US" dirty="0" err="1"/>
              <a:t>bX</a:t>
            </a:r>
            <a:r>
              <a:rPr lang="en-US" dirty="0"/>
              <a:t>’</a:t>
            </a:r>
          </a:p>
          <a:p>
            <a:pPr>
              <a:lnSpc>
                <a:spcPct val="150000"/>
              </a:lnSpc>
            </a:pPr>
            <a:r>
              <a:rPr lang="en-US" dirty="0"/>
              <a:t>X’ → </a:t>
            </a:r>
            <a:r>
              <a:rPr lang="en-US" dirty="0" err="1"/>
              <a:t>SbX</a:t>
            </a:r>
            <a:r>
              <a:rPr lang="en-US" dirty="0"/>
              <a:t>’ / ∈</a:t>
            </a:r>
          </a:p>
          <a:p>
            <a:pPr>
              <a:lnSpc>
                <a:spcPct val="150000"/>
              </a:lnSpc>
            </a:pPr>
            <a:r>
              <a:rPr lang="en-US" dirty="0"/>
              <a:t>S → Sb / </a:t>
            </a:r>
            <a:r>
              <a:rPr lang="en-US" dirty="0" err="1"/>
              <a:t>Xa</a:t>
            </a:r>
            <a:r>
              <a:rPr lang="en-US" dirty="0"/>
              <a:t> / 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346BA1-F5B1-4ADF-B01F-239FB0D856FA}"/>
              </a:ext>
            </a:extLst>
          </p:cNvPr>
          <p:cNvSpPr txBox="1"/>
          <p:nvPr/>
        </p:nvSpPr>
        <p:spPr>
          <a:xfrm>
            <a:off x="6572249" y="1776484"/>
            <a:ext cx="568642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Step-02:</a:t>
            </a:r>
          </a:p>
          <a:p>
            <a:pPr>
              <a:lnSpc>
                <a:spcPct val="150000"/>
              </a:lnSpc>
            </a:pPr>
            <a:r>
              <a:rPr lang="en-US" dirty="0"/>
              <a:t>Substituting the productions of X in S → </a:t>
            </a:r>
            <a:r>
              <a:rPr lang="en-US" dirty="0" err="1"/>
              <a:t>Xa</a:t>
            </a:r>
            <a:r>
              <a:rPr lang="en-US" dirty="0"/>
              <a:t>, we get the following grammar-</a:t>
            </a:r>
          </a:p>
          <a:p>
            <a:r>
              <a:rPr lang="en-US" dirty="0"/>
              <a:t>X → </a:t>
            </a:r>
            <a:r>
              <a:rPr lang="en-US" dirty="0" err="1"/>
              <a:t>SaX</a:t>
            </a:r>
            <a:r>
              <a:rPr lang="en-US" dirty="0"/>
              <a:t>’ / </a:t>
            </a:r>
            <a:r>
              <a:rPr lang="en-US" dirty="0" err="1"/>
              <a:t>bX</a:t>
            </a:r>
            <a:r>
              <a:rPr lang="en-US" dirty="0"/>
              <a:t>’</a:t>
            </a:r>
          </a:p>
          <a:p>
            <a:r>
              <a:rPr lang="en-US" dirty="0"/>
              <a:t>X’ → </a:t>
            </a:r>
            <a:r>
              <a:rPr lang="en-US" dirty="0" err="1"/>
              <a:t>SbX</a:t>
            </a:r>
            <a:r>
              <a:rPr lang="en-US" dirty="0"/>
              <a:t>’ / ∈</a:t>
            </a:r>
          </a:p>
          <a:p>
            <a:r>
              <a:rPr lang="en-US" dirty="0"/>
              <a:t>S → Sb / </a:t>
            </a:r>
            <a:r>
              <a:rPr lang="en-US" dirty="0" err="1"/>
              <a:t>SaX’a</a:t>
            </a:r>
            <a:r>
              <a:rPr lang="en-US" dirty="0"/>
              <a:t> / </a:t>
            </a:r>
            <a:r>
              <a:rPr lang="en-US" dirty="0" err="1"/>
              <a:t>bX’a</a:t>
            </a:r>
            <a:r>
              <a:rPr lang="en-US" dirty="0"/>
              <a:t> / a---A → Aα1 |Aα2 / β1\ β2</a:t>
            </a:r>
          </a:p>
          <a:p>
            <a:r>
              <a:rPr lang="en-US" b="1" dirty="0"/>
              <a:t>Step-03:</a:t>
            </a:r>
          </a:p>
          <a:p>
            <a:pPr>
              <a:lnSpc>
                <a:spcPct val="150000"/>
              </a:lnSpc>
            </a:pPr>
            <a:r>
              <a:rPr lang="en-US" dirty="0"/>
              <a:t>Now, eliminating left recursion from the productions of S, we get the following grammar-</a:t>
            </a:r>
          </a:p>
          <a:p>
            <a:r>
              <a:rPr lang="en-US" dirty="0"/>
              <a:t>X → </a:t>
            </a:r>
            <a:r>
              <a:rPr lang="en-US" dirty="0" err="1"/>
              <a:t>SaX</a:t>
            </a:r>
            <a:r>
              <a:rPr lang="en-US" dirty="0"/>
              <a:t>’ / </a:t>
            </a:r>
            <a:r>
              <a:rPr lang="en-US" dirty="0" err="1"/>
              <a:t>bX</a:t>
            </a:r>
            <a:r>
              <a:rPr lang="en-US" dirty="0"/>
              <a:t>’</a:t>
            </a:r>
          </a:p>
          <a:p>
            <a:r>
              <a:rPr lang="en-US" dirty="0"/>
              <a:t>X’ → </a:t>
            </a:r>
            <a:r>
              <a:rPr lang="en-US" dirty="0" err="1"/>
              <a:t>SbX</a:t>
            </a:r>
            <a:r>
              <a:rPr lang="en-US" dirty="0"/>
              <a:t>’ / ∈</a:t>
            </a:r>
          </a:p>
          <a:p>
            <a:r>
              <a:rPr lang="en-US" dirty="0"/>
              <a:t>S → </a:t>
            </a:r>
            <a:r>
              <a:rPr lang="en-US" dirty="0" err="1"/>
              <a:t>bX’aS</a:t>
            </a:r>
            <a:r>
              <a:rPr lang="en-US" dirty="0"/>
              <a:t>’ / </a:t>
            </a:r>
            <a:r>
              <a:rPr lang="en-US" dirty="0" err="1"/>
              <a:t>aS’</a:t>
            </a:r>
            <a:endParaRPr lang="en-US" dirty="0"/>
          </a:p>
          <a:p>
            <a:r>
              <a:rPr lang="en-US" dirty="0"/>
              <a:t>S’ → </a:t>
            </a:r>
            <a:r>
              <a:rPr lang="en-US" dirty="0" err="1"/>
              <a:t>bS’</a:t>
            </a:r>
            <a:r>
              <a:rPr lang="en-US" dirty="0"/>
              <a:t> / </a:t>
            </a:r>
            <a:r>
              <a:rPr lang="en-US" dirty="0" err="1"/>
              <a:t>aX’aS</a:t>
            </a:r>
            <a:r>
              <a:rPr lang="en-US" dirty="0"/>
              <a:t>’ / ∈</a:t>
            </a:r>
          </a:p>
        </p:txBody>
      </p:sp>
    </p:spTree>
    <p:extLst>
      <p:ext uri="{BB962C8B-B14F-4D97-AF65-F5344CB8AC3E}">
        <p14:creationId xmlns:p14="http://schemas.microsoft.com/office/powerpoint/2010/main" val="6551111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" name="Freeform 7">
            <a:extLst>
              <a:ext uri="{FF2B5EF4-FFF2-40B4-BE49-F238E27FC236}">
                <a16:creationId xmlns:a16="http://schemas.microsoft.com/office/drawing/2014/main" id="{017CD891-586A-4B6E-A486-5402131D5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33114A-6593-433B-8B19-484715CA2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/>
              <a:t>Left Factorization</a:t>
            </a:r>
          </a:p>
        </p:txBody>
      </p:sp>
      <p:sp>
        <p:nvSpPr>
          <p:cNvPr id="5131" name="Rectangle 136">
            <a:extLst>
              <a:ext uri="{FF2B5EF4-FFF2-40B4-BE49-F238E27FC236}">
                <a16:creationId xmlns:a16="http://schemas.microsoft.com/office/drawing/2014/main" id="{FF137431-18A7-4F8A-B89F-8EAB4AAD3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924298"/>
            <a:ext cx="12192417" cy="29337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2" name="Freeform 5">
            <a:extLst>
              <a:ext uri="{FF2B5EF4-FFF2-40B4-BE49-F238E27FC236}">
                <a16:creationId xmlns:a16="http://schemas.microsoft.com/office/drawing/2014/main" id="{DEE94CCE-9E0B-4D7E-9B46-D34BC7972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1695" cy="2802467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7D414-5E62-482B-A356-7FC1D1389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331" y="2286162"/>
            <a:ext cx="5193069" cy="432799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Left factoring is a process by which the grammar with common prefixes is transformed to make it useful for Top down parsers.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</a:rPr>
              <a:t>How?-ab----</a:t>
            </a:r>
            <a:r>
              <a:rPr lang="en-US" sz="1600" b="1" dirty="0" err="1">
                <a:solidFill>
                  <a:schemeClr val="bg1"/>
                </a:solidFill>
              </a:rPr>
              <a:t>A</a:t>
            </a:r>
            <a:r>
              <a:rPr lang="en-US" sz="1600" b="1" dirty="0" err="1">
                <a:solidFill>
                  <a:schemeClr val="bg1"/>
                </a:solidFill>
                <a:sym typeface="Wingdings" panose="05000000000000000000" pitchFamily="2" charset="2"/>
              </a:rPr>
              <a:t>aP</a:t>
            </a:r>
            <a:r>
              <a:rPr lang="en-US" sz="1600" b="1" dirty="0">
                <a:solidFill>
                  <a:schemeClr val="bg1"/>
                </a:solidFill>
                <a:sym typeface="Wingdings" panose="05000000000000000000" pitchFamily="2" charset="2"/>
              </a:rPr>
              <a:t> | </a:t>
            </a:r>
            <a:r>
              <a:rPr lang="en-US" sz="1600" b="1" dirty="0" err="1">
                <a:solidFill>
                  <a:schemeClr val="bg1"/>
                </a:solidFill>
                <a:sym typeface="Wingdings" panose="05000000000000000000" pitchFamily="2" charset="2"/>
              </a:rPr>
              <a:t>aS</a:t>
            </a:r>
            <a:r>
              <a:rPr lang="en-US" sz="1600" b="1" dirty="0">
                <a:solidFill>
                  <a:schemeClr val="bg1"/>
                </a:solidFill>
                <a:sym typeface="Wingdings" panose="05000000000000000000" pitchFamily="2" charset="2"/>
              </a:rPr>
              <a:t>| </a:t>
            </a:r>
            <a:r>
              <a:rPr lang="en-US" sz="1600" b="1" dirty="0" err="1">
                <a:solidFill>
                  <a:schemeClr val="bg1"/>
                </a:solidFill>
                <a:sym typeface="Wingdings" panose="05000000000000000000" pitchFamily="2" charset="2"/>
              </a:rPr>
              <a:t>Pb</a:t>
            </a:r>
            <a:r>
              <a:rPr lang="en-US" sz="1600" b="1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sym typeface="Wingdings" panose="05000000000000000000" pitchFamily="2" charset="2"/>
              </a:rPr>
              <a:t>Sa</a:t>
            </a:r>
            <a:r>
              <a:rPr lang="en-US" sz="1600" b="1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endParaRPr lang="en-US" sz="16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In left factoring,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We make one production for each common prefixes.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The common prefix may be a terminal or a non-terminal or a combination of both.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Rest of the derivation is added by new productions.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The grammar obtained after the process of left factoring is called as Left Factored Grammar.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C0E1A33-C511-4287-BDA9-25A1BDD45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39564" y="2600515"/>
            <a:ext cx="6360750" cy="2647566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1105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3262B-9716-449B-8D90-E9DC76CE3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56957"/>
          </a:xfrm>
        </p:spPr>
        <p:txBody>
          <a:bodyPr/>
          <a:lstStyle/>
          <a:p>
            <a:r>
              <a:rPr lang="en-US" dirty="0"/>
              <a:t>Examples:-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5634A-50F9-479E-98DE-88B41EE40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407459"/>
            <a:ext cx="6269038" cy="3050241"/>
          </a:xfrm>
        </p:spPr>
        <p:txBody>
          <a:bodyPr>
            <a:normAutofit/>
          </a:bodyPr>
          <a:lstStyle/>
          <a:p>
            <a:r>
              <a:rPr lang="en-US" dirty="0"/>
              <a:t>Do left factoring in the following grammar-</a:t>
            </a:r>
          </a:p>
          <a:p>
            <a:pPr marL="0" indent="0">
              <a:buNone/>
            </a:pPr>
            <a:r>
              <a:rPr lang="en-US" dirty="0"/>
              <a:t>S → </a:t>
            </a:r>
            <a:r>
              <a:rPr lang="en-US" dirty="0" err="1"/>
              <a:t>iEtS</a:t>
            </a:r>
            <a:r>
              <a:rPr lang="en-US" dirty="0"/>
              <a:t> / </a:t>
            </a:r>
            <a:r>
              <a:rPr lang="en-US" dirty="0" err="1"/>
              <a:t>iEtSeS</a:t>
            </a:r>
            <a:r>
              <a:rPr lang="en-US" dirty="0"/>
              <a:t> / a</a:t>
            </a:r>
          </a:p>
          <a:p>
            <a:pPr marL="0" indent="0">
              <a:buNone/>
            </a:pPr>
            <a:r>
              <a:rPr lang="en-US" dirty="0"/>
              <a:t>E → b</a:t>
            </a:r>
          </a:p>
          <a:p>
            <a:r>
              <a:rPr lang="en-US" dirty="0"/>
              <a:t>The left factored grammar is-</a:t>
            </a:r>
          </a:p>
          <a:p>
            <a:pPr marL="0" indent="0">
              <a:buNone/>
            </a:pPr>
            <a:r>
              <a:rPr lang="en-US" dirty="0"/>
              <a:t>S → </a:t>
            </a:r>
            <a:r>
              <a:rPr lang="en-US" dirty="0" err="1"/>
              <a:t>iEtSS</a:t>
            </a:r>
            <a:r>
              <a:rPr lang="en-US" dirty="0"/>
              <a:t>’ / a</a:t>
            </a:r>
          </a:p>
          <a:p>
            <a:pPr marL="0" indent="0">
              <a:buNone/>
            </a:pPr>
            <a:r>
              <a:rPr lang="en-US" dirty="0"/>
              <a:t>S’ → </a:t>
            </a:r>
            <a:r>
              <a:rPr lang="en-US" dirty="0" err="1"/>
              <a:t>eS</a:t>
            </a:r>
            <a:r>
              <a:rPr lang="en-US" dirty="0"/>
              <a:t> / ∈</a:t>
            </a:r>
          </a:p>
          <a:p>
            <a:pPr marL="0" indent="0">
              <a:buNone/>
            </a:pPr>
            <a:r>
              <a:rPr lang="en-US" dirty="0"/>
              <a:t>E → b</a:t>
            </a:r>
          </a:p>
        </p:txBody>
      </p:sp>
    </p:spTree>
    <p:extLst>
      <p:ext uri="{BB962C8B-B14F-4D97-AF65-F5344CB8AC3E}">
        <p14:creationId xmlns:p14="http://schemas.microsoft.com/office/powerpoint/2010/main" val="14328987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BD9014-95D8-437F-9595-A9DCFB44DE76}"/>
              </a:ext>
            </a:extLst>
          </p:cNvPr>
          <p:cNvSpPr txBox="1"/>
          <p:nvPr/>
        </p:nvSpPr>
        <p:spPr>
          <a:xfrm>
            <a:off x="990599" y="770900"/>
            <a:ext cx="7658101" cy="5573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Do left factoring in the following grammar-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 → </a:t>
            </a:r>
            <a:r>
              <a:rPr lang="en-US" sz="2000" dirty="0" err="1"/>
              <a:t>aAB</a:t>
            </a:r>
            <a:r>
              <a:rPr lang="en-US" sz="2000" dirty="0"/>
              <a:t> / </a:t>
            </a:r>
            <a:r>
              <a:rPr lang="en-US" sz="2000" dirty="0" err="1"/>
              <a:t>aBc</a:t>
            </a:r>
            <a:r>
              <a:rPr lang="en-US" sz="2000" dirty="0"/>
              <a:t> / </a:t>
            </a:r>
            <a:r>
              <a:rPr lang="en-US" sz="2000" dirty="0" err="1"/>
              <a:t>aAc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 Solution-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	Step-01: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		A → </a:t>
            </a:r>
            <a:r>
              <a:rPr lang="en-US" sz="2000" dirty="0" err="1"/>
              <a:t>aA</a:t>
            </a:r>
            <a:r>
              <a:rPr lang="en-US" sz="2000" dirty="0"/>
              <a:t>’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		A’ → AB / </a:t>
            </a:r>
            <a:r>
              <a:rPr lang="en-US" sz="2000" dirty="0" err="1"/>
              <a:t>Bc</a:t>
            </a:r>
            <a:r>
              <a:rPr lang="en-US" sz="2000" dirty="0"/>
              <a:t> / Ac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Again, this is a grammar with common prefixes.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	Step-02: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		A → </a:t>
            </a:r>
            <a:r>
              <a:rPr lang="en-US" sz="2000" dirty="0" err="1"/>
              <a:t>aA</a:t>
            </a:r>
            <a:r>
              <a:rPr lang="en-US" sz="2000" dirty="0"/>
              <a:t>’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		A’ → AD / </a:t>
            </a:r>
            <a:r>
              <a:rPr lang="en-US" sz="2000" dirty="0" err="1"/>
              <a:t>Bc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		D → B / c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This is a left factored grammar.</a:t>
            </a:r>
          </a:p>
        </p:txBody>
      </p:sp>
    </p:spTree>
    <p:extLst>
      <p:ext uri="{BB962C8B-B14F-4D97-AF65-F5344CB8AC3E}">
        <p14:creationId xmlns:p14="http://schemas.microsoft.com/office/powerpoint/2010/main" val="38334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48E56D3-21F3-4B42-A49E-161CA17AA635}"/>
              </a:ext>
            </a:extLst>
          </p:cNvPr>
          <p:cNvSpPr txBox="1"/>
          <p:nvPr/>
        </p:nvSpPr>
        <p:spPr>
          <a:xfrm>
            <a:off x="1028700" y="779383"/>
            <a:ext cx="80391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Do left factoring in the following grammar-</a:t>
            </a:r>
          </a:p>
          <a:p>
            <a:r>
              <a:rPr lang="en-US" sz="2000" dirty="0"/>
              <a:t>S → a / ab / </a:t>
            </a:r>
            <a:r>
              <a:rPr lang="en-US" sz="2000" dirty="0" err="1"/>
              <a:t>abc</a:t>
            </a:r>
            <a:r>
              <a:rPr lang="en-US" sz="2000" dirty="0"/>
              <a:t> / </a:t>
            </a:r>
            <a:r>
              <a:rPr lang="en-US" sz="2000" dirty="0" err="1"/>
              <a:t>abcd</a:t>
            </a:r>
            <a:endParaRPr lang="en-US" sz="2000" dirty="0"/>
          </a:p>
          <a:p>
            <a:r>
              <a:rPr lang="en-US" sz="2000" dirty="0"/>
              <a:t>Solution-</a:t>
            </a:r>
          </a:p>
          <a:p>
            <a:r>
              <a:rPr lang="en-US" sz="2000" dirty="0"/>
              <a:t> 	Step-01:</a:t>
            </a:r>
          </a:p>
          <a:p>
            <a:r>
              <a:rPr lang="en-US" sz="2000" dirty="0"/>
              <a:t>		S → </a:t>
            </a:r>
            <a:r>
              <a:rPr lang="en-US" sz="2000" dirty="0" err="1"/>
              <a:t>aS’</a:t>
            </a:r>
            <a:endParaRPr lang="en-US" sz="2000" dirty="0"/>
          </a:p>
          <a:p>
            <a:r>
              <a:rPr lang="en-US" sz="2000" dirty="0"/>
              <a:t>		S’ → b / </a:t>
            </a:r>
            <a:r>
              <a:rPr lang="en-US" sz="2000" dirty="0" err="1"/>
              <a:t>bc</a:t>
            </a:r>
            <a:r>
              <a:rPr lang="en-US" sz="2000" dirty="0"/>
              <a:t> / </a:t>
            </a:r>
            <a:r>
              <a:rPr lang="en-US" sz="2000" dirty="0" err="1"/>
              <a:t>bcd</a:t>
            </a:r>
            <a:r>
              <a:rPr lang="en-US" sz="2000" dirty="0"/>
              <a:t> / ∈</a:t>
            </a:r>
          </a:p>
          <a:p>
            <a:r>
              <a:rPr lang="en-US" sz="2000" dirty="0"/>
              <a:t>Again, this is a grammar with common prefixes.</a:t>
            </a:r>
          </a:p>
          <a:p>
            <a:r>
              <a:rPr lang="en-US" sz="2000" dirty="0"/>
              <a:t>	Step-02:</a:t>
            </a:r>
          </a:p>
          <a:p>
            <a:r>
              <a:rPr lang="en-US" sz="2000" dirty="0"/>
              <a:t> 		S → </a:t>
            </a:r>
            <a:r>
              <a:rPr lang="en-US" sz="2000" dirty="0" err="1"/>
              <a:t>aS’</a:t>
            </a:r>
            <a:endParaRPr lang="en-US" sz="2000" dirty="0"/>
          </a:p>
          <a:p>
            <a:r>
              <a:rPr lang="en-US" sz="2000" dirty="0"/>
              <a:t>		S’ → </a:t>
            </a:r>
            <a:r>
              <a:rPr lang="en-US" sz="2000" dirty="0" err="1"/>
              <a:t>bA</a:t>
            </a:r>
            <a:r>
              <a:rPr lang="en-US" sz="2000" dirty="0"/>
              <a:t> / ∈</a:t>
            </a:r>
          </a:p>
          <a:p>
            <a:r>
              <a:rPr lang="en-US" sz="2000" dirty="0"/>
              <a:t>		A → c / cd / ∈</a:t>
            </a:r>
          </a:p>
          <a:p>
            <a:r>
              <a:rPr lang="en-US" sz="2000" dirty="0"/>
              <a:t>Again, this is a grammar with common prefixes.</a:t>
            </a:r>
          </a:p>
          <a:p>
            <a:r>
              <a:rPr lang="en-US" sz="2000" dirty="0"/>
              <a:t>	Step-03:</a:t>
            </a:r>
          </a:p>
          <a:p>
            <a:r>
              <a:rPr lang="en-US" sz="2000" dirty="0"/>
              <a:t> 		S → </a:t>
            </a:r>
            <a:r>
              <a:rPr lang="en-US" sz="2000" dirty="0" err="1"/>
              <a:t>aS’</a:t>
            </a:r>
            <a:endParaRPr lang="en-US" sz="2000" dirty="0"/>
          </a:p>
          <a:p>
            <a:r>
              <a:rPr lang="en-US" sz="2000" dirty="0"/>
              <a:t>		S’ → </a:t>
            </a:r>
            <a:r>
              <a:rPr lang="en-US" sz="2000" dirty="0" err="1"/>
              <a:t>bA</a:t>
            </a:r>
            <a:r>
              <a:rPr lang="en-US" sz="2000" dirty="0"/>
              <a:t> / ∈</a:t>
            </a:r>
          </a:p>
          <a:p>
            <a:r>
              <a:rPr lang="en-US" sz="2000" dirty="0"/>
              <a:t>		A → </a:t>
            </a:r>
            <a:r>
              <a:rPr lang="en-US" sz="2000" dirty="0" err="1"/>
              <a:t>cB</a:t>
            </a:r>
            <a:r>
              <a:rPr lang="en-US" sz="2000" dirty="0"/>
              <a:t> / ∈</a:t>
            </a:r>
          </a:p>
          <a:p>
            <a:r>
              <a:rPr lang="en-US" sz="2000" dirty="0"/>
              <a:t>		B → d / ∈</a:t>
            </a:r>
          </a:p>
          <a:p>
            <a:r>
              <a:rPr lang="en-US" sz="2000" dirty="0"/>
              <a:t>This is a left factored grammar.</a:t>
            </a:r>
          </a:p>
        </p:txBody>
      </p:sp>
    </p:spTree>
    <p:extLst>
      <p:ext uri="{BB962C8B-B14F-4D97-AF65-F5344CB8AC3E}">
        <p14:creationId xmlns:p14="http://schemas.microsoft.com/office/powerpoint/2010/main" val="29426176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E12E0-ACCA-4B99-B5D4-377382AAC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28382"/>
          </a:xfrm>
        </p:spPr>
        <p:txBody>
          <a:bodyPr/>
          <a:lstStyle/>
          <a:p>
            <a:r>
              <a:rPr lang="en-US" dirty="0"/>
              <a:t>Removal of Useless Symbols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FE4EC-11BA-4614-93FA-361178B5F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462" y="1331259"/>
            <a:ext cx="8946541" cy="41954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 symbol can be useless if it does not appear on the right-hand side of the production rule and does not take part in the derivation of any string. </a:t>
            </a:r>
          </a:p>
          <a:p>
            <a:pPr>
              <a:lnSpc>
                <a:spcPct val="150000"/>
              </a:lnSpc>
            </a:pPr>
            <a:r>
              <a:rPr lang="en-US" dirty="0"/>
              <a:t>That symbol is known as a useless symbol. </a:t>
            </a:r>
          </a:p>
          <a:p>
            <a:pPr>
              <a:lnSpc>
                <a:spcPct val="150000"/>
              </a:lnSpc>
            </a:pPr>
            <a:r>
              <a:rPr lang="en-US" dirty="0"/>
              <a:t>Similarly, a variable can be useless if it does not take part in the derivation of any string. </a:t>
            </a:r>
          </a:p>
          <a:p>
            <a:pPr>
              <a:lnSpc>
                <a:spcPct val="150000"/>
              </a:lnSpc>
            </a:pPr>
            <a:r>
              <a:rPr lang="en-US" dirty="0"/>
              <a:t>That variable is known as a useless variable.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6823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20D1F-199E-4063-82C3-927D32D7B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42900"/>
            <a:ext cx="11229975" cy="5905499"/>
          </a:xfrm>
        </p:spPr>
        <p:txBody>
          <a:bodyPr>
            <a:normAutofit/>
          </a:bodyPr>
          <a:lstStyle/>
          <a:p>
            <a:r>
              <a:rPr lang="en-US" dirty="0"/>
              <a:t>Consider the grammar</a:t>
            </a:r>
          </a:p>
          <a:p>
            <a:r>
              <a:rPr lang="en-US" dirty="0"/>
              <a:t>T → </a:t>
            </a:r>
            <a:r>
              <a:rPr lang="en-US" dirty="0" err="1"/>
              <a:t>aaB</a:t>
            </a:r>
            <a:r>
              <a:rPr lang="en-US" dirty="0"/>
              <a:t> | </a:t>
            </a:r>
            <a:r>
              <a:rPr lang="en-US" dirty="0" err="1"/>
              <a:t>abA</a:t>
            </a:r>
            <a:r>
              <a:rPr lang="en-US" dirty="0"/>
              <a:t> | </a:t>
            </a:r>
            <a:r>
              <a:rPr lang="en-US" dirty="0" err="1"/>
              <a:t>aaT</a:t>
            </a:r>
            <a:r>
              <a:rPr lang="en-US" dirty="0"/>
              <a:t>  </a:t>
            </a:r>
          </a:p>
          <a:p>
            <a:r>
              <a:rPr lang="en-US" dirty="0"/>
              <a:t>A → </a:t>
            </a:r>
            <a:r>
              <a:rPr lang="en-US" dirty="0" err="1"/>
              <a:t>aA</a:t>
            </a:r>
            <a:r>
              <a:rPr lang="en-US" dirty="0"/>
              <a:t>  </a:t>
            </a:r>
          </a:p>
          <a:p>
            <a:r>
              <a:rPr lang="en-US" dirty="0"/>
              <a:t>B → ab | b  </a:t>
            </a:r>
          </a:p>
          <a:p>
            <a:r>
              <a:rPr lang="en-US" dirty="0"/>
              <a:t>C → ad </a:t>
            </a:r>
          </a:p>
          <a:p>
            <a:r>
              <a:rPr lang="en-US" dirty="0"/>
              <a:t>In the above example, the variable 'C' will never occur in the derivation of any string, so the production C → ad is useless. So we will eliminate it, and the other productions are written in such a way that variable C can never reach from the starting variable 'T'.</a:t>
            </a:r>
          </a:p>
          <a:p>
            <a:r>
              <a:rPr lang="en-US" dirty="0"/>
              <a:t>Production A → </a:t>
            </a:r>
            <a:r>
              <a:rPr lang="en-US" dirty="0" err="1"/>
              <a:t>aA</a:t>
            </a:r>
            <a:r>
              <a:rPr lang="en-US" dirty="0"/>
              <a:t> is also useless because there is no way to terminate it. If it never terminates, then it can never produce a string. Hence this production can never take part in any derivation.</a:t>
            </a:r>
          </a:p>
          <a:p>
            <a:r>
              <a:rPr lang="en-US" dirty="0"/>
              <a:t>To remove this useless production A → </a:t>
            </a:r>
            <a:r>
              <a:rPr lang="en-US" dirty="0" err="1"/>
              <a:t>aA</a:t>
            </a:r>
            <a:r>
              <a:rPr lang="en-US" dirty="0"/>
              <a:t>, we will first find all the variables which will never lead to a terminal string such as variable 'A'. Then we will remove all the productions in which the variable 'B' occurs.</a:t>
            </a:r>
          </a:p>
        </p:txBody>
      </p:sp>
    </p:spTree>
    <p:extLst>
      <p:ext uri="{BB962C8B-B14F-4D97-AF65-F5344CB8AC3E}">
        <p14:creationId xmlns:p14="http://schemas.microsoft.com/office/powerpoint/2010/main" val="32680858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32273-B815-46F9-B027-7E5436DCD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33157"/>
          </a:xfrm>
        </p:spPr>
        <p:txBody>
          <a:bodyPr/>
          <a:lstStyle/>
          <a:p>
            <a:r>
              <a:rPr lang="en-US" dirty="0"/>
              <a:t>Removal of Null/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Ɛ-</a:t>
            </a:r>
            <a:r>
              <a:rPr lang="en-US" dirty="0"/>
              <a:t>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C2B58-959F-4176-BF75-16A058BA7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500468"/>
            <a:ext cx="10232420" cy="49048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productions of type S → ε are called ε productions. These type of productions can only be removed from those grammars that do not generate ε.</a:t>
            </a:r>
          </a:p>
          <a:p>
            <a:pPr>
              <a:lnSpc>
                <a:spcPct val="150000"/>
              </a:lnSpc>
            </a:pPr>
            <a:r>
              <a:rPr lang="en-US" dirty="0"/>
              <a:t>Step 1: First find out all nullable non-terminal variable which derives ε.</a:t>
            </a:r>
          </a:p>
          <a:p>
            <a:pPr>
              <a:lnSpc>
                <a:spcPct val="150000"/>
              </a:lnSpc>
            </a:pPr>
            <a:r>
              <a:rPr lang="en-US" dirty="0"/>
              <a:t>Step 2: For each production A → a, construct all production A → x, where x is obtained from a by removing one or more non-terminal from step 1.</a:t>
            </a:r>
          </a:p>
          <a:p>
            <a:pPr>
              <a:lnSpc>
                <a:spcPct val="150000"/>
              </a:lnSpc>
            </a:pPr>
            <a:r>
              <a:rPr lang="en-US" dirty="0"/>
              <a:t>Step 3: Now combine the result of step 2 with the original production and remove ε productions.</a:t>
            </a:r>
          </a:p>
        </p:txBody>
      </p:sp>
    </p:spTree>
    <p:extLst>
      <p:ext uri="{BB962C8B-B14F-4D97-AF65-F5344CB8AC3E}">
        <p14:creationId xmlns:p14="http://schemas.microsoft.com/office/powerpoint/2010/main" val="20572009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2D022-88DA-43C6-85A5-055C4E111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333376"/>
            <a:ext cx="6562725" cy="6334124"/>
          </a:xfrm>
        </p:spPr>
        <p:txBody>
          <a:bodyPr>
            <a:noAutofit/>
          </a:bodyPr>
          <a:lstStyle/>
          <a:p>
            <a:r>
              <a:rPr lang="en-US" dirty="0"/>
              <a:t>Remove the production from the following CFG by preserving the meaning of it.</a:t>
            </a:r>
          </a:p>
          <a:p>
            <a:pPr marL="0" indent="0">
              <a:buNone/>
            </a:pPr>
            <a:r>
              <a:rPr lang="en-US" dirty="0"/>
              <a:t>S → XYX---S</a:t>
            </a:r>
            <a:r>
              <a:rPr lang="en-US" dirty="0">
                <a:sym typeface="Wingdings" panose="05000000000000000000" pitchFamily="2" charset="2"/>
              </a:rPr>
              <a:t>XYX|</a:t>
            </a:r>
            <a:r>
              <a:rPr lang="en-US" dirty="0"/>
              <a:t> YX|XY |Y|XX </a:t>
            </a:r>
          </a:p>
          <a:p>
            <a:pPr marL="0" indent="0">
              <a:buNone/>
            </a:pPr>
            <a:r>
              <a:rPr lang="en-US" dirty="0"/>
              <a:t>X → 0X | ε  -----X</a:t>
            </a:r>
            <a:r>
              <a:rPr lang="en-US" dirty="0">
                <a:sym typeface="Wingdings" panose="05000000000000000000" pitchFamily="2" charset="2"/>
              </a:rPr>
              <a:t>0X |0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Y → 1Y | ε ------Y</a:t>
            </a:r>
            <a:r>
              <a:rPr lang="en-US" dirty="0">
                <a:sym typeface="Wingdings" panose="05000000000000000000" pitchFamily="2" charset="2"/>
              </a:rPr>
              <a:t>1Y |1</a:t>
            </a:r>
            <a:r>
              <a:rPr lang="en-US" dirty="0"/>
              <a:t> </a:t>
            </a:r>
          </a:p>
          <a:p>
            <a:r>
              <a:rPr lang="en-US" dirty="0"/>
              <a:t>Now, while removing ε production, we are deleting the rule X → ε and Y → ε. To preserve the meaning of CFG we are actually placing ε at the right-hand side whenever X and Y have appeared.</a:t>
            </a:r>
          </a:p>
          <a:p>
            <a:r>
              <a:rPr lang="en-US" dirty="0"/>
              <a:t>Let us take-S → XYX  </a:t>
            </a:r>
          </a:p>
          <a:p>
            <a:r>
              <a:rPr lang="en-US" dirty="0"/>
              <a:t>If the first X at right-hand side is ε. Then-S → YX    </a:t>
            </a:r>
          </a:p>
          <a:p>
            <a:r>
              <a:rPr lang="en-US" dirty="0"/>
              <a:t>Similarly if the last X in R.H.S. = ε. Then-S → XY  </a:t>
            </a:r>
          </a:p>
          <a:p>
            <a:r>
              <a:rPr lang="en-US" dirty="0"/>
              <a:t>If Y = ε then-S → XX  </a:t>
            </a:r>
          </a:p>
          <a:p>
            <a:r>
              <a:rPr lang="en-US" dirty="0"/>
              <a:t>If Y and X are ε </a:t>
            </a:r>
            <a:r>
              <a:rPr lang="en-US" dirty="0" err="1"/>
              <a:t>then,S</a:t>
            </a:r>
            <a:r>
              <a:rPr lang="en-US" dirty="0"/>
              <a:t> → X  </a:t>
            </a:r>
          </a:p>
          <a:p>
            <a:r>
              <a:rPr lang="en-US" dirty="0"/>
              <a:t>If both X are replaced by ε, S → Y  </a:t>
            </a:r>
          </a:p>
          <a:p>
            <a:endParaRPr lang="en-US" sz="1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52D01C-EB68-4A47-9373-2C1DEA2CBCC1}"/>
              </a:ext>
            </a:extLst>
          </p:cNvPr>
          <p:cNvSpPr txBox="1"/>
          <p:nvPr/>
        </p:nvSpPr>
        <p:spPr>
          <a:xfrm>
            <a:off x="7210425" y="333376"/>
            <a:ext cx="4981575" cy="6497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Now,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 → XY | YX | XX | X | Y 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Now let us consider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X → 0X 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If we place ε at right-hand side for X then,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X → 0 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X → 0X | 0 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Similarly Y → 1Y | 1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Collectively we can rewrite the CFG with removed ε production as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 → XY | YX | XX | X | Y 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X → 0X | 0 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Y → 1Y | 1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A786DB-BB55-42CD-BDD2-02FA59CFDFA2}"/>
              </a:ext>
            </a:extLst>
          </p:cNvPr>
          <p:cNvCxnSpPr/>
          <p:nvPr/>
        </p:nvCxnSpPr>
        <p:spPr>
          <a:xfrm>
            <a:off x="7210425" y="333376"/>
            <a:ext cx="0" cy="65246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0876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09333-DDD1-44B4-9903-711B1E0AC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28407"/>
          </a:xfrm>
        </p:spPr>
        <p:txBody>
          <a:bodyPr/>
          <a:lstStyle/>
          <a:p>
            <a:r>
              <a:rPr lang="en-US" dirty="0"/>
              <a:t>Removing Unit Productions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EDF8F-EEDD-4835-8D5C-87D3799DF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81125"/>
            <a:ext cx="8946541" cy="523875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dirty="0"/>
              <a:t>The unit productions are the productions in which one non-terminal gives another non-terminal. Use the following steps to remove unit production:</a:t>
            </a:r>
          </a:p>
          <a:p>
            <a:pPr>
              <a:lnSpc>
                <a:spcPct val="160000"/>
              </a:lnSpc>
            </a:pPr>
            <a:r>
              <a:rPr lang="en-US" dirty="0"/>
              <a:t>Step 1: To remove X → Y, add production X → a to the grammar rule whenever Y → a occurs in the grammar.</a:t>
            </a:r>
          </a:p>
          <a:p>
            <a:pPr>
              <a:lnSpc>
                <a:spcPct val="160000"/>
              </a:lnSpc>
            </a:pPr>
            <a:r>
              <a:rPr lang="en-US" dirty="0"/>
              <a:t>Step 2: Now delete X → Y from the grammar.</a:t>
            </a:r>
          </a:p>
          <a:p>
            <a:pPr>
              <a:lnSpc>
                <a:spcPct val="160000"/>
              </a:lnSpc>
            </a:pPr>
            <a:r>
              <a:rPr lang="en-US" dirty="0"/>
              <a:t>Step 3: Repeat step 1 and step 2 until all unit productions are removed.</a:t>
            </a:r>
          </a:p>
        </p:txBody>
      </p:sp>
    </p:spTree>
    <p:extLst>
      <p:ext uri="{BB962C8B-B14F-4D97-AF65-F5344CB8AC3E}">
        <p14:creationId xmlns:p14="http://schemas.microsoft.com/office/powerpoint/2010/main" val="470619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4E7AC-0E92-439C-9519-0E07E682D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950" y="276226"/>
            <a:ext cx="9306903" cy="5972174"/>
          </a:xfrm>
        </p:spPr>
        <p:txBody>
          <a:bodyPr>
            <a:normAutofit/>
          </a:bodyPr>
          <a:lstStyle/>
          <a:p>
            <a:r>
              <a:rPr lang="en-US" dirty="0"/>
              <a:t>Remove unit production from the given grammar</a:t>
            </a:r>
          </a:p>
          <a:p>
            <a:pPr marL="0" indent="0">
              <a:buNone/>
            </a:pPr>
            <a:r>
              <a:rPr lang="en-US" dirty="0"/>
              <a:t>S → 0A | 1B | C  -------- S → 0A | 1B | 01 </a:t>
            </a:r>
          </a:p>
          <a:p>
            <a:pPr marL="0" indent="0">
              <a:buNone/>
            </a:pPr>
            <a:r>
              <a:rPr lang="en-US" dirty="0"/>
              <a:t>A → 0S | 00  </a:t>
            </a:r>
          </a:p>
          <a:p>
            <a:pPr marL="0" indent="0">
              <a:buNone/>
            </a:pPr>
            <a:r>
              <a:rPr lang="en-US" dirty="0"/>
              <a:t>B → 1 | A -----------------B → 1 | 0S | 00  </a:t>
            </a:r>
          </a:p>
          <a:p>
            <a:r>
              <a:rPr lang="en-US" dirty="0"/>
              <a:t>S → C is a unit production. But while removing S → C we have to consider what C gives. So, we can add a rule to S.</a:t>
            </a:r>
          </a:p>
          <a:p>
            <a:r>
              <a:rPr lang="en-US" dirty="0"/>
              <a:t>S → 0A | 1B | 01  </a:t>
            </a:r>
          </a:p>
          <a:p>
            <a:r>
              <a:rPr lang="en-US" dirty="0"/>
              <a:t>Similarly, B → A is also a unit production so we can modify it as</a:t>
            </a:r>
          </a:p>
          <a:p>
            <a:r>
              <a:rPr lang="en-US" dirty="0"/>
              <a:t>B → 1 | 0S | 00  </a:t>
            </a:r>
          </a:p>
          <a:p>
            <a:r>
              <a:rPr lang="en-US" dirty="0"/>
              <a:t>Thus finally we can write CFG without unit production as</a:t>
            </a:r>
          </a:p>
          <a:p>
            <a:r>
              <a:rPr lang="en-US" dirty="0"/>
              <a:t>S → 0A | 1B | 01  </a:t>
            </a:r>
          </a:p>
          <a:p>
            <a:pPr marL="0" indent="0">
              <a:buNone/>
            </a:pPr>
            <a:r>
              <a:rPr lang="en-US" dirty="0"/>
              <a:t>A → 0S | 00  </a:t>
            </a:r>
          </a:p>
          <a:p>
            <a:pPr marL="0" indent="0">
              <a:buNone/>
            </a:pPr>
            <a:r>
              <a:rPr lang="en-US" dirty="0"/>
              <a:t>B → 1 | 0S | 00  </a:t>
            </a:r>
          </a:p>
          <a:p>
            <a:pPr marL="0" indent="0">
              <a:buNone/>
            </a:pPr>
            <a:r>
              <a:rPr lang="en-US" dirty="0"/>
              <a:t>C → 01 </a:t>
            </a:r>
          </a:p>
        </p:txBody>
      </p:sp>
    </p:spTree>
    <p:extLst>
      <p:ext uri="{BB962C8B-B14F-4D97-AF65-F5344CB8AC3E}">
        <p14:creationId xmlns:p14="http://schemas.microsoft.com/office/powerpoint/2010/main" val="41341526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1891</TotalTime>
  <Words>3367</Words>
  <Application>Microsoft Office PowerPoint</Application>
  <PresentationFormat>Widescreen</PresentationFormat>
  <Paragraphs>379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Arimo</vt:lpstr>
      <vt:lpstr>Calibri</vt:lpstr>
      <vt:lpstr>Century Gothic</vt:lpstr>
      <vt:lpstr>Consolas</vt:lpstr>
      <vt:lpstr>Roboto Condensed</vt:lpstr>
      <vt:lpstr>Wingdings</vt:lpstr>
      <vt:lpstr>Wingdings 3</vt:lpstr>
      <vt:lpstr>Ion</vt:lpstr>
      <vt:lpstr>Simplification of Grammar</vt:lpstr>
      <vt:lpstr>Ambiguity of Grammar</vt:lpstr>
      <vt:lpstr>Ambiguous Grammar-</vt:lpstr>
      <vt:lpstr>PowerPoint Presentation</vt:lpstr>
      <vt:lpstr>PowerPoint Presentation</vt:lpstr>
      <vt:lpstr>Reasons:-</vt:lpstr>
      <vt:lpstr>PowerPoint Presentation</vt:lpstr>
      <vt:lpstr>Problem-01:</vt:lpstr>
      <vt:lpstr>Solution</vt:lpstr>
      <vt:lpstr>Problem-02:</vt:lpstr>
      <vt:lpstr>Solution-</vt:lpstr>
      <vt:lpstr>Why need to remove ambiguity?</vt:lpstr>
      <vt:lpstr>Removal of Ambiguity</vt:lpstr>
      <vt:lpstr>Methods To Remove Ambiguity-</vt:lpstr>
      <vt:lpstr>Example 1:-</vt:lpstr>
      <vt:lpstr>PowerPoint Presentation</vt:lpstr>
      <vt:lpstr>Leveling the given grammar</vt:lpstr>
      <vt:lpstr>PowerPoint Presentation</vt:lpstr>
      <vt:lpstr>Example 2:-</vt:lpstr>
      <vt:lpstr>PowerPoint Presentation</vt:lpstr>
      <vt:lpstr>Left Recursion-</vt:lpstr>
      <vt:lpstr>Elimination of Left Recursion</vt:lpstr>
      <vt:lpstr>Examples: </vt:lpstr>
      <vt:lpstr>PowerPoint Presentation</vt:lpstr>
      <vt:lpstr>Indirect Left Recursion</vt:lpstr>
      <vt:lpstr>Left Factorization</vt:lpstr>
      <vt:lpstr>Examples:-</vt:lpstr>
      <vt:lpstr>PowerPoint Presentation</vt:lpstr>
      <vt:lpstr>PowerPoint Presentation</vt:lpstr>
      <vt:lpstr>Removal of Useless Symbols</vt:lpstr>
      <vt:lpstr>PowerPoint Presentation</vt:lpstr>
      <vt:lpstr>Removal of Null/Ɛ-production</vt:lpstr>
      <vt:lpstr>PowerPoint Presentation</vt:lpstr>
      <vt:lpstr>Removing Unit Productions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Simplification of Grammar</dc:title>
  <dc:creator>POTGANTWAR PRANJALA DNYANESHWAR</dc:creator>
  <cp:lastModifiedBy>POTGANTWAR PRANJALA DNYANESHWAR</cp:lastModifiedBy>
  <cp:revision>52</cp:revision>
  <dcterms:created xsi:type="dcterms:W3CDTF">2021-02-11T09:13:41Z</dcterms:created>
  <dcterms:modified xsi:type="dcterms:W3CDTF">2022-02-16T08:19:06Z</dcterms:modified>
</cp:coreProperties>
</file>