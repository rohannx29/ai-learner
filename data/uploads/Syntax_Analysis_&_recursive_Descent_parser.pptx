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22"/>
  </p:notesMasterIdLst>
  <p:sldIdLst>
    <p:sldId id="257" r:id="rId2"/>
    <p:sldId id="292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6" r:id="rId11"/>
    <p:sldId id="283" r:id="rId12"/>
    <p:sldId id="282" r:id="rId13"/>
    <p:sldId id="289" r:id="rId14"/>
    <p:sldId id="290" r:id="rId15"/>
    <p:sldId id="291" r:id="rId16"/>
    <p:sldId id="265" r:id="rId17"/>
    <p:sldId id="284" r:id="rId18"/>
    <p:sldId id="285" r:id="rId19"/>
    <p:sldId id="286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E4D82-6AB6-4C4C-BACA-C420462CDFF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4F6DD-F11E-4475-AB7C-31C697EEA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2673DBBA-58A3-49C0-8F9F-9DF2ACCFC9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fld id="{BBD14378-455F-4CBA-8730-27291EB7D07F}" type="slidenum">
              <a:rPr lang="en-US" altLang="en-US" sz="1300"/>
              <a:pPr eaLnBrk="1" hangingPunct="1"/>
              <a:t>20</a:t>
            </a:fld>
            <a:endParaRPr lang="th-TH" altLang="en-US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4412E8D-0C4B-4CC0-AC70-3C0D958DA0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928775C-B8F6-4487-B37F-F392251DF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h-TH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4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6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4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0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8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8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7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1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5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3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99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4017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7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8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17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59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43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5273A0-FF66-451C-A999-F9645CDF991E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2BD2A-87CF-4F7A-B42F-DBD63170D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71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BFA37-39CC-41B2-9CC0-DEF63D1F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047" y="1447800"/>
            <a:ext cx="7538328" cy="1221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/>
              <a:t>Syntax Analysis/Parsing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D235D7-E555-468D-A368-E23596CCE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57780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AA0BB620-0E1B-444E-B4DA-620EC18FC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2429450D-EE6E-4527-982F-934CA86EE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8060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6" name="Graphic 5" descr="Document">
            <a:extLst>
              <a:ext uri="{FF2B5EF4-FFF2-40B4-BE49-F238E27FC236}">
                <a16:creationId xmlns:a16="http://schemas.microsoft.com/office/drawing/2014/main" id="{65FAC598-C700-4B95-8C4A-23F6A24030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240" y="2074882"/>
            <a:ext cx="2936836" cy="29368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7835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82A9F-9267-41DF-909A-6628C071F8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829" y="643467"/>
            <a:ext cx="6764342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180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7">
            <a:extLst>
              <a:ext uri="{FF2B5EF4-FFF2-40B4-BE49-F238E27FC236}">
                <a16:creationId xmlns:a16="http://schemas.microsoft.com/office/drawing/2014/main" id="{0A01F2A2-AEDD-47DC-AFB5-B97CEB9A5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89B2C-5239-4AEA-ACFA-FF0D46B9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/>
              <a:t>What is Syntax Analysis?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B5AF5F3-AD0A-4EFA-854A-47C780F2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1E3D6D6C-E192-4135-B1DB-17C71EEB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B44E-06AB-4A1E-AD2A-AF3BC8013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4" y="2213001"/>
            <a:ext cx="5451627" cy="43605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Syntax Analysis is a second phase of the compiler design process in which the given input string is checked for the confirmation of rules and structure of the formal grammar.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It analyses the syntactical structure and checks if the given input is in the correct syntax of the programming language or not.</a:t>
            </a:r>
          </a:p>
        </p:txBody>
      </p:sp>
      <p:pic>
        <p:nvPicPr>
          <p:cNvPr id="1026" name="Picture 2" descr="Syntax Analyser Process">
            <a:extLst>
              <a:ext uri="{FF2B5EF4-FFF2-40B4-BE49-F238E27FC236}">
                <a16:creationId xmlns:a16="http://schemas.microsoft.com/office/drawing/2014/main" id="{4250CE04-CF6C-4367-BDA4-0D377596D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1916" y="2402309"/>
            <a:ext cx="5930693" cy="280246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52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7">
            <a:extLst>
              <a:ext uri="{FF2B5EF4-FFF2-40B4-BE49-F238E27FC236}">
                <a16:creationId xmlns:a16="http://schemas.microsoft.com/office/drawing/2014/main" id="{0A01F2A2-AEDD-47DC-AFB5-B97CEB9A5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3CF75-8EEC-41F5-88E6-849AD913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/>
              <a:t>Parsing Techniques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5AF5F3-AD0A-4EFA-854A-47C780F2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5">
            <a:extLst>
              <a:ext uri="{FF2B5EF4-FFF2-40B4-BE49-F238E27FC236}">
                <a16:creationId xmlns:a16="http://schemas.microsoft.com/office/drawing/2014/main" id="{1E3D6D6C-E192-4135-B1DB-17C71EEB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4E34CF8-3664-4D68-8092-D56CA329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4300" y="2258151"/>
            <a:ext cx="8849461" cy="438048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39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3A638769-C475-4A91-BC20-8DEED61C0E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67" y="875835"/>
            <a:ext cx="10905066" cy="512538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728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5A58E-8EA6-494F-BB8E-85B8EAD95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09598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Top Down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0809-4EC0-45E4-8709-A1C318876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86162"/>
            <a:ext cx="10519728" cy="4267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 top-down parser builds the parse tree from the top down, starting with the start nonterminal.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As an example, suppose we want to build a parse tree for expression n + n * n using the following grammar.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E	→	T 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R	→	ε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R	→	+ 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T	→	F 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S	→	ε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S	→	* 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F	→	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800" b="1" dirty="0"/>
              <a:t>F	→	( E 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78073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A925-5671-4F07-B639-EC772EBE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2" y="386043"/>
            <a:ext cx="11107738" cy="6252882"/>
          </a:xfrm>
        </p:spPr>
        <p:txBody>
          <a:bodyPr>
            <a:normAutofit/>
          </a:bodyPr>
          <a:lstStyle/>
          <a:p>
            <a:r>
              <a:rPr lang="en-US" dirty="0"/>
              <a:t>The parser starts by building the top node of the tree from the start nonterminal, E.</a:t>
            </a:r>
          </a:p>
          <a:p>
            <a:pPr marL="0" indent="0">
              <a:buNone/>
            </a:pPr>
            <a:r>
              <a:rPr lang="en-US" dirty="0"/>
              <a:t>          E</a:t>
            </a:r>
          </a:p>
          <a:p>
            <a:pPr marL="0" indent="0">
              <a:buNone/>
            </a:pPr>
            <a:r>
              <a:rPr lang="en-US" dirty="0"/>
              <a:t>There is only one production with E on its left-hand side, so that must be the one to use.</a:t>
            </a:r>
          </a:p>
          <a:p>
            <a:pPr marL="0" indent="0">
              <a:buNone/>
            </a:pPr>
            <a:r>
              <a:rPr lang="en-US" dirty="0"/>
              <a:t>          E</a:t>
            </a:r>
          </a:p>
          <a:p>
            <a:pPr marL="0" indent="0">
              <a:buNone/>
            </a:pPr>
            <a:r>
              <a:rPr lang="en-US" dirty="0"/>
              <a:t>         / \</a:t>
            </a:r>
          </a:p>
          <a:p>
            <a:pPr marL="0" indent="0">
              <a:buNone/>
            </a:pPr>
            <a:r>
              <a:rPr lang="en-US" dirty="0"/>
              <a:t>        T   R         </a:t>
            </a:r>
          </a:p>
          <a:p>
            <a:r>
              <a:rPr lang="en-US" dirty="0"/>
              <a:t>Since the parser reads the sequence of tokens from left to right, it builds the tree from left to right too. It is creating a leftmost derivation.</a:t>
            </a:r>
          </a:p>
          <a:p>
            <a:r>
              <a:rPr lang="en-US" dirty="0"/>
              <a:t>The next step is to expand a little more of the tree beneath the leftmost nonterminal, T. Since there is only one production with T on the left-hand side, we use it.</a:t>
            </a:r>
          </a:p>
          <a:p>
            <a:pPr marL="0" indent="0">
              <a:buNone/>
            </a:pPr>
            <a:r>
              <a:rPr lang="en-US" dirty="0"/>
              <a:t>          E</a:t>
            </a:r>
          </a:p>
          <a:p>
            <a:pPr marL="0" indent="0">
              <a:buNone/>
            </a:pPr>
            <a:r>
              <a:rPr lang="en-US" dirty="0"/>
              <a:t>         / \</a:t>
            </a:r>
          </a:p>
          <a:p>
            <a:pPr marL="0" indent="0">
              <a:buNone/>
            </a:pPr>
            <a:r>
              <a:rPr lang="en-US" dirty="0"/>
              <a:t>        T   R </a:t>
            </a:r>
          </a:p>
          <a:p>
            <a:pPr marL="0" indent="0">
              <a:buNone/>
            </a:pPr>
            <a:r>
              <a:rPr lang="en-US" dirty="0"/>
              <a:t>       / \</a:t>
            </a:r>
          </a:p>
          <a:p>
            <a:pPr marL="0" indent="0">
              <a:buNone/>
            </a:pPr>
            <a:r>
              <a:rPr lang="en-US" dirty="0"/>
              <a:t>      F   S</a:t>
            </a:r>
          </a:p>
        </p:txBody>
      </p:sp>
    </p:spTree>
    <p:extLst>
      <p:ext uri="{BB962C8B-B14F-4D97-AF65-F5344CB8AC3E}">
        <p14:creationId xmlns:p14="http://schemas.microsoft.com/office/powerpoint/2010/main" val="196129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452A8-0003-4346-AEF6-CA4A97BC2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61926"/>
            <a:ext cx="10020300" cy="650557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There are two productions that have F on the left-hand side, and the parser needs to decide which to use.</a:t>
            </a:r>
          </a:p>
          <a:p>
            <a:r>
              <a:rPr lang="en-US" dirty="0"/>
              <a:t>Our parsers will make decisions based on a single lookahead token. The lookahead is the next token that has not yet been put into the tree. For expression n + n * n, the initial lookahead is n.</a:t>
            </a:r>
          </a:p>
          <a:p>
            <a:r>
              <a:rPr lang="en-US" dirty="0"/>
              <a:t>Production F → ( E ) will not work, because the lookahead is not a left parenthesis. We use F → n.</a:t>
            </a:r>
          </a:p>
          <a:p>
            <a:pPr marL="0" indent="0">
              <a:buNone/>
            </a:pPr>
            <a:r>
              <a:rPr lang="en-US" dirty="0"/>
              <a:t>          E</a:t>
            </a:r>
          </a:p>
          <a:p>
            <a:pPr marL="0" indent="0">
              <a:buNone/>
            </a:pPr>
            <a:r>
              <a:rPr lang="en-US" dirty="0"/>
              <a:t>         / \</a:t>
            </a:r>
          </a:p>
          <a:p>
            <a:pPr marL="0" indent="0">
              <a:buNone/>
            </a:pPr>
            <a:r>
              <a:rPr lang="en-US" dirty="0"/>
              <a:t>        T   R </a:t>
            </a:r>
          </a:p>
          <a:p>
            <a:pPr marL="0" indent="0">
              <a:buNone/>
            </a:pPr>
            <a:r>
              <a:rPr lang="en-US" dirty="0"/>
              <a:t>       / \</a:t>
            </a:r>
          </a:p>
          <a:p>
            <a:pPr marL="0" indent="0">
              <a:buNone/>
            </a:pPr>
            <a:r>
              <a:rPr lang="en-US" dirty="0"/>
              <a:t>      F   S</a:t>
            </a:r>
          </a:p>
          <a:p>
            <a:pPr marL="0" indent="0">
              <a:buNone/>
            </a:pPr>
            <a:r>
              <a:rPr lang="en-US" dirty="0"/>
              <a:t>      |</a:t>
            </a:r>
          </a:p>
          <a:p>
            <a:pPr marL="0" indent="0">
              <a:buNone/>
            </a:pPr>
            <a:r>
              <a:rPr lang="en-US" dirty="0"/>
              <a:t>      n</a:t>
            </a:r>
          </a:p>
          <a:p>
            <a:r>
              <a:rPr lang="en-US" dirty="0"/>
              <a:t>Now the leftmost nonterminal is S and the lookahead is +. Production S → * T will not work because * does not match +. The only other possibility is S → ε.</a:t>
            </a:r>
          </a:p>
          <a:p>
            <a:pPr marL="0" indent="0">
              <a:buNone/>
            </a:pPr>
            <a:r>
              <a:rPr lang="en-US" dirty="0"/>
              <a:t>          E</a:t>
            </a:r>
          </a:p>
          <a:p>
            <a:pPr marL="0" indent="0">
              <a:buNone/>
            </a:pPr>
            <a:r>
              <a:rPr lang="en-US" dirty="0"/>
              <a:t>         / \</a:t>
            </a:r>
          </a:p>
          <a:p>
            <a:pPr marL="0" indent="0">
              <a:buNone/>
            </a:pPr>
            <a:r>
              <a:rPr lang="en-US" dirty="0"/>
              <a:t>        T   R </a:t>
            </a:r>
          </a:p>
          <a:p>
            <a:pPr marL="0" indent="0">
              <a:buNone/>
            </a:pPr>
            <a:r>
              <a:rPr lang="en-US" dirty="0"/>
              <a:t>       / \</a:t>
            </a:r>
          </a:p>
          <a:p>
            <a:pPr marL="0" indent="0">
              <a:buNone/>
            </a:pPr>
            <a:r>
              <a:rPr lang="en-US" dirty="0"/>
              <a:t>      F   S</a:t>
            </a:r>
          </a:p>
          <a:p>
            <a:pPr marL="0" indent="0">
              <a:buNone/>
            </a:pPr>
            <a:r>
              <a:rPr lang="en-US" dirty="0"/>
              <a:t>      |   |</a:t>
            </a:r>
          </a:p>
          <a:p>
            <a:pPr marL="0" indent="0">
              <a:buNone/>
            </a:pPr>
            <a:r>
              <a:rPr lang="en-US" dirty="0"/>
              <a:t>      n   ε</a:t>
            </a:r>
          </a:p>
        </p:txBody>
      </p:sp>
    </p:spTree>
    <p:extLst>
      <p:ext uri="{BB962C8B-B14F-4D97-AF65-F5344CB8AC3E}">
        <p14:creationId xmlns:p14="http://schemas.microsoft.com/office/powerpoint/2010/main" val="301440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2736-883C-4DCD-BE9C-9727DCF61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6" y="885824"/>
            <a:ext cx="4895849" cy="53625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Now we need to expand the subtree labeled R. </a:t>
            </a:r>
          </a:p>
          <a:p>
            <a:r>
              <a:rPr lang="en-US" dirty="0"/>
              <a:t>It is a little less obvious here that production R → ε will not work, but the only one that has a chance of matching the lookahead, +, is R → + E.</a:t>
            </a:r>
          </a:p>
          <a:p>
            <a:pPr marL="0" indent="0">
              <a:buNone/>
            </a:pPr>
            <a:r>
              <a:rPr lang="en-US" dirty="0"/>
              <a:t>           E</a:t>
            </a:r>
          </a:p>
          <a:p>
            <a:pPr marL="0" indent="0">
              <a:buNone/>
            </a:pPr>
            <a:r>
              <a:rPr lang="en-US" dirty="0"/>
              <a:t>          / \</a:t>
            </a:r>
          </a:p>
          <a:p>
            <a:pPr marL="0" indent="0">
              <a:buNone/>
            </a:pPr>
            <a:r>
              <a:rPr lang="en-US" dirty="0"/>
              <a:t>         /   \</a:t>
            </a:r>
          </a:p>
          <a:p>
            <a:pPr marL="0" indent="0">
              <a:buNone/>
            </a:pPr>
            <a:r>
              <a:rPr lang="en-US" dirty="0"/>
              <a:t>        T     R </a:t>
            </a:r>
          </a:p>
          <a:p>
            <a:pPr marL="0" indent="0">
              <a:buNone/>
            </a:pPr>
            <a:r>
              <a:rPr lang="en-US" dirty="0"/>
              <a:t>       / \   / \</a:t>
            </a:r>
          </a:p>
          <a:p>
            <a:pPr marL="0" indent="0">
              <a:buNone/>
            </a:pPr>
            <a:r>
              <a:rPr lang="en-US" dirty="0"/>
              <a:t>      F   S  +  E</a:t>
            </a:r>
          </a:p>
          <a:p>
            <a:pPr marL="0" indent="0">
              <a:buNone/>
            </a:pPr>
            <a:r>
              <a:rPr lang="en-US" dirty="0"/>
              <a:t>      |   |</a:t>
            </a:r>
          </a:p>
          <a:p>
            <a:pPr marL="0" indent="0">
              <a:buNone/>
            </a:pPr>
            <a:r>
              <a:rPr lang="en-US" dirty="0"/>
              <a:t>      n   ε</a:t>
            </a: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6E1F50-587E-4484-B9A8-8EB7489494F1}"/>
              </a:ext>
            </a:extLst>
          </p:cNvPr>
          <p:cNvCxnSpPr/>
          <p:nvPr/>
        </p:nvCxnSpPr>
        <p:spPr>
          <a:xfrm>
            <a:off x="5638800" y="171450"/>
            <a:ext cx="142875" cy="6686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44E12A-C10C-4D0A-B882-9A5C9AF2E95A}"/>
              </a:ext>
            </a:extLst>
          </p:cNvPr>
          <p:cNvSpPr txBox="1"/>
          <p:nvPr/>
        </p:nvSpPr>
        <p:spPr>
          <a:xfrm>
            <a:off x="6096000" y="885824"/>
            <a:ext cx="5153025" cy="564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parser continues this process. Eventually, it will have built the entire parse tree.</a:t>
            </a:r>
          </a:p>
          <a:p>
            <a:r>
              <a:rPr lang="en-US" dirty="0"/>
              <a:t>           E</a:t>
            </a:r>
          </a:p>
          <a:p>
            <a:r>
              <a:rPr lang="en-US" dirty="0"/>
              <a:t>          / \</a:t>
            </a:r>
          </a:p>
          <a:p>
            <a:r>
              <a:rPr lang="en-US" dirty="0"/>
              <a:t>         /   \</a:t>
            </a:r>
          </a:p>
          <a:p>
            <a:r>
              <a:rPr lang="en-US" dirty="0"/>
              <a:t>        T     R </a:t>
            </a:r>
          </a:p>
          <a:p>
            <a:r>
              <a:rPr lang="en-US" dirty="0"/>
              <a:t>       / \   / \</a:t>
            </a:r>
          </a:p>
          <a:p>
            <a:r>
              <a:rPr lang="en-US" dirty="0"/>
              <a:t>      F   S  +  E</a:t>
            </a:r>
          </a:p>
          <a:p>
            <a:r>
              <a:rPr lang="en-US" dirty="0"/>
              <a:t>      |   |    / \</a:t>
            </a:r>
          </a:p>
          <a:p>
            <a:r>
              <a:rPr lang="en-US" dirty="0"/>
              <a:t>      n   ε   /   \</a:t>
            </a:r>
          </a:p>
          <a:p>
            <a:r>
              <a:rPr lang="en-US" dirty="0"/>
              <a:t>             T     R</a:t>
            </a:r>
          </a:p>
          <a:p>
            <a:r>
              <a:rPr lang="en-US" dirty="0"/>
              <a:t>            / \    |</a:t>
            </a:r>
          </a:p>
          <a:p>
            <a:r>
              <a:rPr lang="en-US" dirty="0"/>
              <a:t>           F   S   ε</a:t>
            </a:r>
          </a:p>
          <a:p>
            <a:r>
              <a:rPr lang="en-US" dirty="0"/>
              <a:t>           |  / \</a:t>
            </a:r>
          </a:p>
          <a:p>
            <a:r>
              <a:rPr lang="en-US" dirty="0"/>
              <a:t>           n  *  T</a:t>
            </a:r>
          </a:p>
          <a:p>
            <a:r>
              <a:rPr lang="en-US" dirty="0"/>
              <a:t>                / \</a:t>
            </a:r>
          </a:p>
          <a:p>
            <a:r>
              <a:rPr lang="en-US" dirty="0"/>
              <a:t>               F   S</a:t>
            </a:r>
          </a:p>
          <a:p>
            <a:r>
              <a:rPr lang="en-US" dirty="0"/>
              <a:t>               |   |</a:t>
            </a:r>
          </a:p>
          <a:p>
            <a:r>
              <a:rPr lang="en-US" dirty="0"/>
              <a:t>               n   ε</a:t>
            </a:r>
          </a:p>
        </p:txBody>
      </p:sp>
    </p:spTree>
    <p:extLst>
      <p:ext uri="{BB962C8B-B14F-4D97-AF65-F5344CB8AC3E}">
        <p14:creationId xmlns:p14="http://schemas.microsoft.com/office/powerpoint/2010/main" val="399807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850"/>
            <a:ext cx="8229600" cy="7429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Recursive Descent</a:t>
            </a:r>
            <a:br>
              <a:rPr lang="en-US" b="1" dirty="0"/>
            </a:br>
            <a:endParaRPr 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981200" y="2011680"/>
            <a:ext cx="8229600" cy="4312920"/>
          </a:xfrm>
        </p:spPr>
        <p:txBody>
          <a:bodyPr/>
          <a:lstStyle/>
          <a:p>
            <a:r>
              <a:rPr lang="en-US" dirty="0"/>
              <a:t>General form of top-down parsing which may involve backtracking (making repeated scans of input)</a:t>
            </a:r>
          </a:p>
          <a:p>
            <a:r>
              <a:rPr lang="en-US" dirty="0"/>
              <a:t>A recursive-descent parser consists of several small functions, one for each non terminal in the grammar.</a:t>
            </a:r>
          </a:p>
          <a:p>
            <a:r>
              <a:rPr lang="en-US" dirty="0"/>
              <a:t>As we parse a sentence, we call the functions that correspond to the left side non terminal of the productions we are applying. </a:t>
            </a:r>
          </a:p>
          <a:p>
            <a:r>
              <a:rPr lang="en-US" dirty="0"/>
              <a:t>If these productions are recursive, we end up calling the functions recursively.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/>
              <a:t>A typical procedure for 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953000"/>
          </a:xfrm>
        </p:spPr>
        <p:txBody>
          <a:bodyPr>
            <a:normAutofit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Void A() {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choose an A production A-&gt; X1X2…</a:t>
            </a:r>
            <a:r>
              <a:rPr lang="en-US" dirty="0" err="1"/>
              <a:t>Xk</a:t>
            </a:r>
            <a:r>
              <a:rPr lang="en-US" dirty="0"/>
              <a:t>;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for(</a:t>
            </a:r>
            <a:r>
              <a:rPr lang="en-US" dirty="0" err="1"/>
              <a:t>i</a:t>
            </a:r>
            <a:r>
              <a:rPr lang="en-US" dirty="0"/>
              <a:t>=1 to k){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       if ( Xi is a NT 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               call procedure Xi();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       else if (Xi ==Current input symbol </a:t>
            </a:r>
            <a:r>
              <a:rPr lang="en-US" i="1" dirty="0"/>
              <a:t>a</a:t>
            </a:r>
            <a:r>
              <a:rPr lang="en-US" dirty="0"/>
              <a:t>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               advance the input to the next symbol;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       else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              error;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       }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   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Recursive Descent -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229600" cy="56578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S-&gt;</a:t>
            </a:r>
            <a:r>
              <a:rPr lang="en-US" dirty="0" err="1"/>
              <a:t>cAd</a:t>
            </a:r>
            <a:endParaRPr lang="en-US" dirty="0"/>
          </a:p>
          <a:p>
            <a:r>
              <a:rPr lang="en-US" dirty="0"/>
              <a:t>A-&gt; </a:t>
            </a:r>
            <a:r>
              <a:rPr lang="en-US" dirty="0" err="1"/>
              <a:t>ab|a</a:t>
            </a:r>
            <a:endParaRPr lang="en-US" dirty="0"/>
          </a:p>
          <a:p>
            <a:r>
              <a:rPr lang="en-US" dirty="0"/>
              <a:t>Input string w=cad</a:t>
            </a:r>
          </a:p>
          <a:p>
            <a:r>
              <a:rPr lang="en-US" dirty="0"/>
              <a:t>Parse Trees in top-down fashion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              S                    </a:t>
            </a:r>
            <a:r>
              <a:rPr lang="en-US" dirty="0" err="1"/>
              <a:t>S</a:t>
            </a:r>
            <a:r>
              <a:rPr lang="en-US" dirty="0"/>
              <a:t>                        </a:t>
            </a:r>
            <a:r>
              <a:rPr lang="en-US" dirty="0" err="1"/>
              <a:t>S</a:t>
            </a: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           /   |  \	         /   |  \                  /   |  \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          c    A  d        c    A  d              c    A  d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                                  /  \                        |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                                a   b                       a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main()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{S();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S()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{ match(c);A();match(d);}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6E3CD-71B6-48D1-BB41-A6F1A736A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6" y="76200"/>
            <a:ext cx="9716478" cy="652462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parsing function N() for nonterminal N will simply contain logic to pick a rule based on the current lookahead, followed by code to match each individual rule. </a:t>
            </a:r>
          </a:p>
          <a:p>
            <a:r>
              <a:rPr lang="en-US" dirty="0"/>
              <a:t>Its structure will look something like the following: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N() {</a:t>
            </a:r>
          </a:p>
          <a:p>
            <a:pPr marL="0" indent="0">
              <a:buNone/>
            </a:pPr>
            <a:r>
              <a:rPr lang="en-US" dirty="0"/>
              <a:t>	  if (lookahead can start first rule for N) {</a:t>
            </a:r>
          </a:p>
          <a:p>
            <a:pPr marL="0" indent="0">
              <a:buNone/>
            </a:pPr>
            <a:r>
              <a:rPr lang="en-US" dirty="0"/>
              <a:t>	    match rule 1 for N</a:t>
            </a:r>
          </a:p>
          <a:p>
            <a:pPr marL="0" indent="0">
              <a:buNone/>
            </a:pPr>
            <a:r>
              <a:rPr lang="en-US" dirty="0"/>
              <a:t>	  }</a:t>
            </a:r>
          </a:p>
          <a:p>
            <a:pPr marL="0" indent="0">
              <a:buNone/>
            </a:pPr>
            <a:r>
              <a:rPr lang="en-US" dirty="0"/>
              <a:t>	  else if (lookahead can start second rule for N) {</a:t>
            </a:r>
          </a:p>
          <a:p>
            <a:pPr marL="0" indent="0">
              <a:buNone/>
            </a:pPr>
            <a:r>
              <a:rPr lang="en-US" dirty="0"/>
              <a:t>	    match rule 2 for N</a:t>
            </a:r>
          </a:p>
          <a:p>
            <a:pPr marL="0" indent="0">
              <a:buNone/>
            </a:pPr>
            <a:r>
              <a:rPr lang="en-US" dirty="0"/>
              <a:t>	  }</a:t>
            </a:r>
          </a:p>
          <a:p>
            <a:pPr marL="0" indent="0">
              <a:buNone/>
            </a:pPr>
            <a:r>
              <a:rPr lang="en-US" dirty="0"/>
              <a:t>	  ...		...</a:t>
            </a:r>
          </a:p>
          <a:p>
            <a:pPr marL="0" indent="0">
              <a:buNone/>
            </a:pPr>
            <a:r>
              <a:rPr lang="en-US" dirty="0"/>
              <a:t>          else if (lookahead can start </a:t>
            </a:r>
            <a:r>
              <a:rPr lang="en-US" dirty="0" err="1"/>
              <a:t>n'th</a:t>
            </a:r>
            <a:r>
              <a:rPr lang="en-US" dirty="0"/>
              <a:t> rule for N) {</a:t>
            </a:r>
          </a:p>
          <a:p>
            <a:pPr marL="0" indent="0">
              <a:buNone/>
            </a:pPr>
            <a:r>
              <a:rPr lang="en-US" dirty="0"/>
              <a:t>	    match rule n for N</a:t>
            </a:r>
          </a:p>
          <a:p>
            <a:pPr marL="0" indent="0">
              <a:buNone/>
            </a:pPr>
            <a:r>
              <a:rPr lang="en-US" dirty="0"/>
              <a:t>	  else {</a:t>
            </a:r>
          </a:p>
          <a:p>
            <a:pPr marL="0" indent="0">
              <a:buNone/>
            </a:pPr>
            <a:r>
              <a:rPr lang="en-US" dirty="0"/>
              <a:t>	    error();</a:t>
            </a:r>
          </a:p>
          <a:p>
            <a:pPr marL="0" indent="0">
              <a:buNone/>
            </a:pPr>
            <a:r>
              <a:rPr lang="en-US" dirty="0"/>
              <a:t>	 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66562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E729-5EAE-4FD0-A6B5-7952A29C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9BF9-80CC-4BEA-BB8D-C63BCFC4F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88" y="1233768"/>
            <a:ext cx="6383338" cy="4195481"/>
          </a:xfrm>
        </p:spPr>
        <p:txBody>
          <a:bodyPr/>
          <a:lstStyle/>
          <a:p>
            <a:r>
              <a:rPr lang="en-US" dirty="0"/>
              <a:t>Consider the Grammar: </a:t>
            </a:r>
          </a:p>
          <a:p>
            <a:pPr marL="0" indent="0">
              <a:buNone/>
            </a:pPr>
            <a:r>
              <a:rPr lang="en-US" dirty="0"/>
              <a:t>E --&gt; </a:t>
            </a:r>
            <a:r>
              <a:rPr lang="en-US" dirty="0" err="1"/>
              <a:t>i</a:t>
            </a:r>
            <a:r>
              <a:rPr lang="en-US" dirty="0"/>
              <a:t> E’                 </a:t>
            </a:r>
            <a:r>
              <a:rPr lang="en-US" dirty="0" err="1"/>
              <a:t>i+i</a:t>
            </a:r>
            <a:r>
              <a:rPr lang="en-US" dirty="0"/>
              <a:t>---</a:t>
            </a:r>
            <a:r>
              <a:rPr lang="en-US" dirty="0" err="1"/>
              <a:t>E</a:t>
            </a:r>
            <a:r>
              <a:rPr lang="en-US" dirty="0" err="1">
                <a:sym typeface="Wingdings" panose="05000000000000000000" pitchFamily="2" charset="2"/>
              </a:rPr>
              <a:t>iE</a:t>
            </a:r>
            <a:r>
              <a:rPr lang="en-US" dirty="0">
                <a:sym typeface="Wingdings" panose="05000000000000000000" pitchFamily="2" charset="2"/>
              </a:rPr>
              <a:t>’----</a:t>
            </a:r>
            <a:r>
              <a:rPr lang="en-US" dirty="0" err="1">
                <a:sym typeface="Wingdings" panose="05000000000000000000" pitchFamily="2" charset="2"/>
              </a:rPr>
              <a:t>Ei+iE</a:t>
            </a:r>
            <a:r>
              <a:rPr lang="en-US" dirty="0">
                <a:sym typeface="Wingdings" panose="05000000000000000000" pitchFamily="2" charset="2"/>
              </a:rPr>
              <a:t>’---</a:t>
            </a:r>
            <a:r>
              <a:rPr lang="en-US" dirty="0" err="1">
                <a:sym typeface="Wingdings" panose="05000000000000000000" pitchFamily="2" charset="2"/>
              </a:rPr>
              <a:t>Ei+i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Ɛ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i+i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E' --&gt; + </a:t>
            </a:r>
            <a:r>
              <a:rPr lang="en-US" dirty="0" err="1"/>
              <a:t>i</a:t>
            </a:r>
            <a:r>
              <a:rPr lang="en-US" dirty="0"/>
              <a:t> E' |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Ɛ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C4761-481C-499D-AE24-135E6D52435B}"/>
              </a:ext>
            </a:extLst>
          </p:cNvPr>
          <p:cNvSpPr txBox="1"/>
          <p:nvPr/>
        </p:nvSpPr>
        <p:spPr>
          <a:xfrm>
            <a:off x="584199" y="2610744"/>
            <a:ext cx="6191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main() </a:t>
            </a:r>
          </a:p>
          <a:p>
            <a:r>
              <a:rPr lang="en-US" dirty="0"/>
              <a:t>{ </a:t>
            </a:r>
          </a:p>
          <a:p>
            <a:r>
              <a:rPr lang="en-US" dirty="0"/>
              <a:t>    // E is a start symbol. </a:t>
            </a:r>
          </a:p>
          <a:p>
            <a:r>
              <a:rPr lang="en-US" dirty="0"/>
              <a:t>    //line no. 1//  E();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  // if lookahead = $, it represents the end of the string </a:t>
            </a:r>
          </a:p>
          <a:p>
            <a:r>
              <a:rPr lang="en-US" dirty="0"/>
              <a:t>    // Here l is lookahead. </a:t>
            </a:r>
          </a:p>
          <a:p>
            <a:r>
              <a:rPr lang="en-US" dirty="0"/>
              <a:t>      //line no. 2 //  if (l == '$') </a:t>
            </a:r>
          </a:p>
          <a:p>
            <a:r>
              <a:rPr lang="en-US" dirty="0"/>
              <a:t>      //line no. 3//  </a:t>
            </a:r>
            <a:r>
              <a:rPr lang="en-US" dirty="0" err="1"/>
              <a:t>printf</a:t>
            </a:r>
            <a:r>
              <a:rPr lang="en-US" dirty="0"/>
              <a:t>("Parsing Successful"); </a:t>
            </a:r>
          </a:p>
          <a:p>
            <a:r>
              <a:rPr lang="en-US" dirty="0"/>
              <a:t>}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A058CBA-D896-466C-9A52-3CF6E4408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49" y="-17302"/>
            <a:ext cx="4770440" cy="66752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742950" indent="-28575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2pPr>
            <a:lvl3pPr marL="1143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3pPr>
            <a:lvl4pPr marL="1600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4pPr>
            <a:lvl5pPr marL="20574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9pPr>
          </a:lstStyle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// Definition of E, as per the given production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E()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(l ==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match(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E'();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// Definition of E' as per the given production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E'()   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(l ==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'+'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match(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'+'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match(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E'();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// Match function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match(</a:t>
            </a:r>
            <a:r>
              <a:rPr lang="en-US" altLang="en-US" sz="1400" b="1" dirty="0">
                <a:solidFill>
                  <a:srgbClr val="80808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t)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(l == t) {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l = </a:t>
            </a:r>
            <a:r>
              <a:rPr lang="en-US" altLang="en-US" sz="1400" b="1" dirty="0" err="1">
                <a:solidFill>
                  <a:srgbClr val="FF1493"/>
                </a:solidFill>
                <a:latin typeface="Consolas" panose="020B0609020204030204" pitchFamily="49" charset="0"/>
              </a:rPr>
              <a:t>getchar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/>
              <a:t>	</a:t>
            </a:r>
            <a:r>
              <a:rPr lang="en-US" altLang="en-US" sz="1400" dirty="0">
                <a:solidFill>
                  <a:srgbClr val="FF0000"/>
                </a:solidFill>
              </a:rPr>
              <a:t>//</a:t>
            </a:r>
            <a:r>
              <a:rPr lang="en-US" altLang="en-US" sz="1400" dirty="0" err="1">
                <a:solidFill>
                  <a:srgbClr val="FF0000"/>
                </a:solidFill>
              </a:rPr>
              <a:t>getnexttoken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40424E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en-US" sz="1400" b="1" dirty="0" err="1">
                <a:solidFill>
                  <a:srgbClr val="FF1493"/>
                </a:solidFill>
                <a:latin typeface="Consolas" panose="020B0609020204030204" pitchFamily="49" charset="0"/>
              </a:rPr>
              <a:t>printf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"Error"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altLang="en-US" sz="1400" dirty="0"/>
          </a:p>
          <a:p>
            <a:pPr marL="0" indent="0" defTabSz="914400">
              <a:buClrTx/>
              <a:buSzTx/>
              <a:buFontTx/>
              <a:buNone/>
            </a:pPr>
            <a:r>
              <a:rPr lang="en-US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203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D252-7FE3-4E45-B995-C54B91FE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4582"/>
          </a:xfrm>
        </p:spPr>
        <p:txBody>
          <a:bodyPr/>
          <a:lstStyle/>
          <a:p>
            <a:r>
              <a:rPr lang="en-US" dirty="0"/>
              <a:t>Parsing of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D2200-0B53-433C-9781-1B823909D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95426"/>
            <a:ext cx="9678378" cy="4752974"/>
          </a:xfrm>
        </p:spPr>
        <p:txBody>
          <a:bodyPr/>
          <a:lstStyle/>
          <a:p>
            <a:r>
              <a:rPr lang="en-US" dirty="0"/>
              <a:t>Recursive stack is used to parse the input string</a:t>
            </a:r>
          </a:p>
          <a:p>
            <a:endParaRPr lang="en-US" dirty="0"/>
          </a:p>
          <a:p>
            <a:r>
              <a:rPr lang="en-US" dirty="0" err="1"/>
              <a:t>i+i</a:t>
            </a:r>
            <a:r>
              <a:rPr lang="en-US" dirty="0"/>
              <a:t> $</a:t>
            </a:r>
          </a:p>
          <a:p>
            <a:r>
              <a:rPr lang="en-US" dirty="0"/>
              <a:t>main( )///stop at line no. 2</a:t>
            </a:r>
          </a:p>
          <a:p>
            <a:pPr lvl="1"/>
            <a:r>
              <a:rPr lang="en-US" dirty="0"/>
              <a:t>E( ) ////stops at line no. 4////l==</a:t>
            </a:r>
            <a:r>
              <a:rPr lang="en-US" dirty="0" err="1"/>
              <a:t>i</a:t>
            </a:r>
            <a:r>
              <a:rPr lang="en-US" dirty="0"/>
              <a:t>///yes</a:t>
            </a:r>
          </a:p>
          <a:p>
            <a:pPr lvl="2"/>
            <a:r>
              <a:rPr lang="en-US" dirty="0"/>
              <a:t>E’ ( )</a:t>
            </a:r>
          </a:p>
          <a:p>
            <a:pPr lvl="3"/>
            <a:r>
              <a:rPr lang="en-US" dirty="0"/>
              <a:t>E’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65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3BDA-CDD7-430D-909E-B03E68F9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600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ECD6-E5AF-401B-AB66-04C72B473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228726"/>
            <a:ext cx="9404722" cy="50196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Example</a:t>
            </a:r>
          </a:p>
          <a:p>
            <a:r>
              <a:rPr lang="en-US" dirty="0"/>
              <a:t>Consider the following simple grammar for assignment statements with expressions involving addition or subtraction: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1)	</a:t>
            </a:r>
            <a:r>
              <a:rPr lang="en-US" dirty="0" err="1"/>
              <a:t>stmt</a:t>
            </a:r>
            <a:r>
              <a:rPr lang="en-US" dirty="0"/>
              <a:t>:	ID ':=' expr</a:t>
            </a:r>
          </a:p>
          <a:p>
            <a:pPr marL="0" indent="0">
              <a:buNone/>
            </a:pPr>
            <a:r>
              <a:rPr lang="en-US" dirty="0"/>
              <a:t>2)	expr:	expr '+' NUM</a:t>
            </a:r>
          </a:p>
          <a:p>
            <a:pPr marL="0" indent="0">
              <a:buNone/>
            </a:pPr>
            <a:r>
              <a:rPr lang="en-US" dirty="0"/>
              <a:t>3)	expr:	expr '-' NUM</a:t>
            </a:r>
          </a:p>
          <a:p>
            <a:pPr marL="0" indent="0">
              <a:buNone/>
            </a:pPr>
            <a:r>
              <a:rPr lang="en-US" dirty="0"/>
              <a:t>4)	expr:	NUM</a:t>
            </a:r>
          </a:p>
          <a:p>
            <a:r>
              <a:rPr lang="en-US" dirty="0"/>
              <a:t>This grammar allows statements like a:= 1 + 2 - 3. Since the rules for expr are left recursive, we need to transform the grammar to the following:</a:t>
            </a:r>
          </a:p>
          <a:p>
            <a:pPr marL="0" indent="0">
              <a:buNone/>
            </a:pPr>
            <a:r>
              <a:rPr lang="en-US" dirty="0"/>
              <a:t>1)	</a:t>
            </a:r>
            <a:r>
              <a:rPr lang="en-US" dirty="0" err="1"/>
              <a:t>stmt</a:t>
            </a:r>
            <a:r>
              <a:rPr lang="en-US" dirty="0"/>
              <a:t>:		ID ':=' expr</a:t>
            </a:r>
          </a:p>
          <a:p>
            <a:pPr marL="0" indent="0">
              <a:buNone/>
            </a:pPr>
            <a:r>
              <a:rPr lang="en-US" dirty="0"/>
              <a:t>2)	expr:		NUM </a:t>
            </a:r>
            <a:r>
              <a:rPr lang="en-US" dirty="0" err="1"/>
              <a:t>exprRest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	</a:t>
            </a:r>
            <a:r>
              <a:rPr lang="en-US" dirty="0" err="1"/>
              <a:t>exprRest</a:t>
            </a:r>
            <a:r>
              <a:rPr lang="en-US" dirty="0"/>
              <a:t>:	'+' NUM </a:t>
            </a:r>
            <a:r>
              <a:rPr lang="en-US" dirty="0" err="1"/>
              <a:t>exprRest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4)	</a:t>
            </a:r>
            <a:r>
              <a:rPr lang="en-US" dirty="0" err="1"/>
              <a:t>exprRest</a:t>
            </a:r>
            <a:r>
              <a:rPr lang="en-US" dirty="0"/>
              <a:t>:	'-' NUM </a:t>
            </a:r>
            <a:r>
              <a:rPr lang="en-US" dirty="0" err="1"/>
              <a:t>exprRest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5)	</a:t>
            </a:r>
            <a:r>
              <a:rPr lang="en-US" dirty="0" err="1"/>
              <a:t>exprRest</a:t>
            </a:r>
            <a:r>
              <a:rPr lang="en-US" dirty="0"/>
              <a:t>:	/* empty */</a:t>
            </a:r>
          </a:p>
        </p:txBody>
      </p:sp>
    </p:spTree>
    <p:extLst>
      <p:ext uri="{BB962C8B-B14F-4D97-AF65-F5344CB8AC3E}">
        <p14:creationId xmlns:p14="http://schemas.microsoft.com/office/powerpoint/2010/main" val="17781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6E03-B6A2-4B3A-BE4C-D2BF25986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66675"/>
            <a:ext cx="10115549" cy="68579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Assuming that the current lookahead is in a global variable </a:t>
            </a:r>
            <a:r>
              <a:rPr lang="en-US" dirty="0" err="1"/>
              <a:t>tok</a:t>
            </a:r>
            <a:r>
              <a:rPr lang="en-US" dirty="0"/>
              <a:t>, we can write the parsing procedures in pseudo-C as follows: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/>
              <a:t>stmt</a:t>
            </a:r>
            <a:r>
              <a:rPr lang="en-US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match(ID); match(':='); expr();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expr()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match(NUM); </a:t>
            </a:r>
            <a:r>
              <a:rPr lang="en-US" dirty="0" err="1"/>
              <a:t>exprRest</a:t>
            </a:r>
            <a:r>
              <a:rPr lang="en-US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/>
              <a:t>exprRest</a:t>
            </a:r>
            <a:r>
              <a:rPr lang="en-US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if (</a:t>
            </a:r>
            <a:r>
              <a:rPr lang="en-US" dirty="0" err="1"/>
              <a:t>tok</a:t>
            </a:r>
            <a:r>
              <a:rPr lang="en-US" dirty="0"/>
              <a:t> == '+') { /* rule 3 */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match('+'); match(NUM); </a:t>
            </a:r>
            <a:r>
              <a:rPr lang="en-US" dirty="0" err="1"/>
              <a:t>exprRest</a:t>
            </a:r>
            <a:r>
              <a:rPr lang="en-US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else if (</a:t>
            </a:r>
            <a:r>
              <a:rPr lang="en-US" dirty="0" err="1"/>
              <a:t>tok</a:t>
            </a:r>
            <a:r>
              <a:rPr lang="en-US" dirty="0"/>
              <a:t> == '-') { /* rule 4 */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match('-'); match(NUM); </a:t>
            </a:r>
            <a:r>
              <a:rPr lang="en-US" dirty="0" err="1"/>
              <a:t>exprRest</a:t>
            </a:r>
            <a:r>
              <a:rPr lang="en-US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else { /* rule 5 */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}</a:t>
            </a:r>
          </a:p>
          <a:p>
            <a:r>
              <a:rPr lang="en-US" dirty="0"/>
              <a:t>Note that </a:t>
            </a:r>
            <a:r>
              <a:rPr lang="en-US" dirty="0" err="1"/>
              <a:t>exprRest</a:t>
            </a:r>
            <a:r>
              <a:rPr lang="en-US" dirty="0"/>
              <a:t>() chooses rule 5 if the lookahead cannot match any of the other rules for </a:t>
            </a:r>
            <a:r>
              <a:rPr lang="en-US" dirty="0" err="1"/>
              <a:t>exprRest</a:t>
            </a:r>
            <a:r>
              <a:rPr lang="en-US" dirty="0"/>
              <a:t>. It would have also been correct to choose rule 5 only if the current lookahead was a token which can follow </a:t>
            </a:r>
            <a:r>
              <a:rPr lang="en-US" dirty="0" err="1"/>
              <a:t>exprRest</a:t>
            </a:r>
            <a:r>
              <a:rPr lang="en-US" dirty="0"/>
              <a:t>, but the method used above is simpler with the sole disadvantage that errors are detected later.</a:t>
            </a:r>
          </a:p>
        </p:txBody>
      </p:sp>
    </p:spTree>
    <p:extLst>
      <p:ext uri="{BB962C8B-B14F-4D97-AF65-F5344CB8AC3E}">
        <p14:creationId xmlns:p14="http://schemas.microsoft.com/office/powerpoint/2010/main" val="4087663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1F10-8B9F-4E45-9B4B-60F9D259E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6" y="247650"/>
            <a:ext cx="9545028" cy="6000749"/>
          </a:xfrm>
        </p:spPr>
        <p:txBody>
          <a:bodyPr>
            <a:normAutofit/>
          </a:bodyPr>
          <a:lstStyle/>
          <a:p>
            <a:r>
              <a:rPr lang="en-US" dirty="0"/>
              <a:t>The match() procedure merely needs to check if the current lookahead in </a:t>
            </a:r>
            <a:r>
              <a:rPr lang="en-US" dirty="0" err="1"/>
              <a:t>tok</a:t>
            </a:r>
            <a:r>
              <a:rPr lang="en-US" dirty="0"/>
              <a:t> matches its argument and advance the input:</a:t>
            </a:r>
          </a:p>
          <a:p>
            <a:endParaRPr lang="en-US" dirty="0"/>
          </a:p>
          <a:p>
            <a:r>
              <a:rPr lang="en-US" dirty="0"/>
              <a:t>match(Token t) {</a:t>
            </a:r>
          </a:p>
          <a:p>
            <a:r>
              <a:rPr lang="en-US" dirty="0"/>
              <a:t>  if (</a:t>
            </a:r>
            <a:r>
              <a:rPr lang="en-US" dirty="0" err="1"/>
              <a:t>tok</a:t>
            </a:r>
            <a:r>
              <a:rPr lang="en-US" dirty="0"/>
              <a:t> == t) {</a:t>
            </a:r>
          </a:p>
          <a:p>
            <a:r>
              <a:rPr lang="en-US" dirty="0"/>
              <a:t>    </a:t>
            </a:r>
            <a:r>
              <a:rPr lang="en-US" dirty="0" err="1"/>
              <a:t>tok</a:t>
            </a:r>
            <a:r>
              <a:rPr lang="en-US" dirty="0"/>
              <a:t>= </a:t>
            </a:r>
            <a:r>
              <a:rPr lang="en-US" dirty="0" err="1"/>
              <a:t>nextToken</a:t>
            </a:r>
            <a:r>
              <a:rPr lang="en-US" dirty="0"/>
              <a:t>();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else {</a:t>
            </a:r>
          </a:p>
          <a:p>
            <a:r>
              <a:rPr lang="en-US" dirty="0"/>
              <a:t>    error():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where we assume that </a:t>
            </a:r>
            <a:r>
              <a:rPr lang="en-US" dirty="0" err="1"/>
              <a:t>nextToken</a:t>
            </a:r>
            <a:r>
              <a:rPr lang="en-US" dirty="0"/>
              <a:t>() is the interface to the scanner and returns the next token from the input stream.</a:t>
            </a:r>
          </a:p>
        </p:txBody>
      </p:sp>
    </p:spTree>
    <p:extLst>
      <p:ext uri="{BB962C8B-B14F-4D97-AF65-F5344CB8AC3E}">
        <p14:creationId xmlns:p14="http://schemas.microsoft.com/office/powerpoint/2010/main" val="387718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305D-F40E-4655-A8C1-C286BE53B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381000"/>
            <a:ext cx="9848849" cy="5867400"/>
          </a:xfrm>
        </p:spPr>
        <p:txBody>
          <a:bodyPr/>
          <a:lstStyle/>
          <a:p>
            <a:r>
              <a:rPr lang="en-US" dirty="0"/>
              <a:t>All that remains is to make sure we startup and terminate the parser correctly: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parse()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tok</a:t>
            </a:r>
            <a:r>
              <a:rPr lang="en-US" dirty="0"/>
              <a:t>= </a:t>
            </a:r>
            <a:r>
              <a:rPr lang="en-US" dirty="0" err="1"/>
              <a:t>nextToken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stmt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match('&lt;EOF&gt;');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The first line merely primes the global variable used for the lookahead token. </a:t>
            </a:r>
          </a:p>
          <a:p>
            <a:r>
              <a:rPr lang="en-US" dirty="0"/>
              <a:t>The second line calls the parsing procedure for stmt. </a:t>
            </a:r>
          </a:p>
          <a:p>
            <a:r>
              <a:rPr lang="en-US" dirty="0"/>
              <a:t>Finally, assuming that '&lt;EOF&gt;' is the token used to represent the end of the input stream, </a:t>
            </a:r>
          </a:p>
          <a:p>
            <a:r>
              <a:rPr lang="en-US" dirty="0"/>
              <a:t>the last line ensures that no garbage follows a legal stmt.</a:t>
            </a:r>
          </a:p>
        </p:txBody>
      </p:sp>
    </p:spTree>
    <p:extLst>
      <p:ext uri="{BB962C8B-B14F-4D97-AF65-F5344CB8AC3E}">
        <p14:creationId xmlns:p14="http://schemas.microsoft.com/office/powerpoint/2010/main" val="1859415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FF05-BD4A-4DB4-9975-39CC10F2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fld id="{4E2B7550-231E-4716-8F08-EF521FC68EDD}" type="slidenum">
              <a:rPr lang="en-US" altLang="en-US" sz="14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pPr eaLnBrk="1" hangingPunct="1"/>
              <a:t>20</a:t>
            </a:fld>
            <a:endParaRPr lang="th-TH" altLang="en-US" sz="1400">
              <a:solidFill>
                <a:schemeClr val="tx2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705DB24E-7A5C-4EC0-B625-A1E1A5FF8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/>
              <a:t>Problems in Recursive-Descent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D35028FC-F38F-4680-9583-B819781EE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312" y="2052918"/>
            <a:ext cx="9700026" cy="311915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th-TH" altLang="en-US" dirty="0"/>
              <a:t>Difficult to convert grammars into EBNF</a:t>
            </a:r>
          </a:p>
          <a:p>
            <a:pPr eaLnBrk="1" hangingPunct="1">
              <a:lnSpc>
                <a:spcPct val="150000"/>
              </a:lnSpc>
            </a:pPr>
            <a:r>
              <a:rPr lang="th-TH" altLang="en-US" dirty="0"/>
              <a:t>Cannot decide which production to use at each point</a:t>
            </a:r>
          </a:p>
          <a:p>
            <a:pPr>
              <a:lnSpc>
                <a:spcPct val="150000"/>
              </a:lnSpc>
            </a:pPr>
            <a:r>
              <a:rPr lang="th-TH" altLang="en-US" dirty="0"/>
              <a:t>Cannot decide when to use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Ɛ</a:t>
            </a:r>
            <a:r>
              <a:rPr lang="th-TH" altLang="en-US" dirty="0"/>
              <a:t>-production  A</a:t>
            </a:r>
            <a:r>
              <a:rPr lang="th-TH" altLang="en-US" dirty="0">
                <a:sym typeface="Symbol" panose="05050102010706020507" pitchFamily="18" charset="2"/>
              </a:rPr>
              <a:t>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Ɛ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>
                <a:sym typeface="Symbol" panose="05050102010706020507" pitchFamily="18" charset="2"/>
              </a:rPr>
              <a:t>A recursive descent parser cannot be written for a grammar which contains such directly (or indirectly) left recursive rules</a:t>
            </a:r>
            <a:endParaRPr lang="th-TH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285</TotalTime>
  <Words>1724</Words>
  <Application>Microsoft Office PowerPoint</Application>
  <PresentationFormat>Widescreen</PresentationFormat>
  <Paragraphs>239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Century Gothic</vt:lpstr>
      <vt:lpstr>Consolas</vt:lpstr>
      <vt:lpstr>Times New Roman</vt:lpstr>
      <vt:lpstr>Wingdings 2</vt:lpstr>
      <vt:lpstr>Wingdings 3</vt:lpstr>
      <vt:lpstr>Ion</vt:lpstr>
      <vt:lpstr>Syntax Analysis/Parsing</vt:lpstr>
      <vt:lpstr>PowerPoint Presentation</vt:lpstr>
      <vt:lpstr>What is Syntax Analysis?</vt:lpstr>
      <vt:lpstr>Parsing Techniques</vt:lpstr>
      <vt:lpstr>PowerPoint Presentation</vt:lpstr>
      <vt:lpstr>Top Down parsers</vt:lpstr>
      <vt:lpstr>PowerPoint Presentation</vt:lpstr>
      <vt:lpstr>PowerPoint Presentation</vt:lpstr>
      <vt:lpstr>PowerPoint Presentation</vt:lpstr>
      <vt:lpstr>Recursive Descent </vt:lpstr>
      <vt:lpstr>A typical procedure for NT</vt:lpstr>
      <vt:lpstr>Recursive Descent - Example </vt:lpstr>
      <vt:lpstr>PowerPoint Presentation</vt:lpstr>
      <vt:lpstr>Example</vt:lpstr>
      <vt:lpstr>Parsing of a string</vt:lpstr>
      <vt:lpstr>Example</vt:lpstr>
      <vt:lpstr>PowerPoint Presentation</vt:lpstr>
      <vt:lpstr>PowerPoint Presentation</vt:lpstr>
      <vt:lpstr>PowerPoint Presentation</vt:lpstr>
      <vt:lpstr>Problems in Recursive-Descent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Analysis/Parsing</dc:title>
  <dc:creator>POTGANTWAR PRANJALA DNYANESHWAR</dc:creator>
  <cp:lastModifiedBy>POTGANTWAR PRANJALA DNYANESHWAR</cp:lastModifiedBy>
  <cp:revision>30</cp:revision>
  <dcterms:created xsi:type="dcterms:W3CDTF">2021-02-12T09:09:39Z</dcterms:created>
  <dcterms:modified xsi:type="dcterms:W3CDTF">2022-02-10T06:51:15Z</dcterms:modified>
</cp:coreProperties>
</file>